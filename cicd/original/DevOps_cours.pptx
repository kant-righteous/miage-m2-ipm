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8996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106638"/>
            <a:ext cx="1739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216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UNIVERSITÉ TOULOUSE CAPITOLE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238250" y="3716238"/>
            <a:ext cx="17392650" cy="1025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5119"/>
              </a:lnSpc>
              <a:buNone/>
            </a:pPr>
            <a:r>
              <a:rPr lang="en-US" sz="7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DevOps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238250" y="4970413"/>
            <a:ext cx="173926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i="1" dirty="0">
                <a:solidFill>
                  <a:srgbClr val="5E5E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Culture, collaboration et automatisation pour livrer en continu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38250" y="6094363"/>
            <a:ext cx="241866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6h de cours magistral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3894237" y="6094363"/>
            <a:ext cx="19050" cy="3524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7" name="Text 5"/>
          <p:cNvSpPr/>
          <p:nvPr/>
        </p:nvSpPr>
        <p:spPr>
          <a:xfrm>
            <a:off x="4370487" y="6094363"/>
            <a:ext cx="247809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18h de travaux dirigés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38250" y="6827788"/>
            <a:ext cx="173926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Harold Parpex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7735996" y="9677400"/>
            <a:ext cx="171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DU COURS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Modalités d'évaluation et volume horaire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82248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4124325"/>
            <a:ext cx="7477125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295650"/>
            <a:ext cx="14668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20 %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2609850" y="3486150"/>
            <a:ext cx="550232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Comportement, participation, ponctualité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047750" y="5457825"/>
            <a:ext cx="7477125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4629150"/>
            <a:ext cx="14668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2609850" y="4819650"/>
            <a:ext cx="437664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rendus de travaux pratiques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0" y="6791325"/>
            <a:ext cx="7477125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5962650"/>
            <a:ext cx="14668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40 %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609850" y="6153150"/>
            <a:ext cx="259825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Évaluation sur table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134475" y="2495550"/>
            <a:ext cx="19050" cy="7124700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5" name="Text 13"/>
          <p:cNvSpPr/>
          <p:nvPr/>
        </p:nvSpPr>
        <p:spPr>
          <a:xfrm>
            <a:off x="9763125" y="2495550"/>
            <a:ext cx="822483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horaire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9763125" y="4124325"/>
            <a:ext cx="7477125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7" name="Text 15"/>
          <p:cNvSpPr/>
          <p:nvPr/>
        </p:nvSpPr>
        <p:spPr>
          <a:xfrm>
            <a:off x="9763125" y="3295650"/>
            <a:ext cx="14668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6h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1325225" y="3486150"/>
            <a:ext cx="478019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 magistral — 4 séances de 1h30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763125" y="5457825"/>
            <a:ext cx="7477125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20" name="Text 18"/>
          <p:cNvSpPr/>
          <p:nvPr/>
        </p:nvSpPr>
        <p:spPr>
          <a:xfrm>
            <a:off x="9763125" y="4629150"/>
            <a:ext cx="14668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18h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11325225" y="4819650"/>
            <a:ext cx="453954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Travaux dirigés — mise en pratique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7735996" y="9677400"/>
            <a:ext cx="171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DU COURS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séances, une histoire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5147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743200"/>
            <a:ext cx="8382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190750" y="2786063"/>
            <a:ext cx="58674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au DevOps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905750" y="2828925"/>
            <a:ext cx="10267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Pourquoi le DevOps existe, culture, CALMS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45434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3771900"/>
            <a:ext cx="8382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190750" y="3814763"/>
            <a:ext cx="58674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et collaboration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905750" y="3857625"/>
            <a:ext cx="10267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Versionner le code, travailler en équipe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47750" y="55721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4800600"/>
            <a:ext cx="8382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190750" y="4843463"/>
            <a:ext cx="58674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05750" y="4886325"/>
            <a:ext cx="10267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git push au déploiement automatique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66008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829300"/>
            <a:ext cx="8382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190750" y="5872163"/>
            <a:ext cx="586740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Conteneurisation et orchestration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905750" y="5915025"/>
            <a:ext cx="102679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Docker, optimisation d'image, Kubernetes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047750" y="9267825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: TaskFlow, une petite API développée par quatre étudiants, du ZIP au déploiement scalable.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17735996" y="9677400"/>
            <a:ext cx="171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810893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FA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· 1H30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4372868"/>
            <a:ext cx="15716250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au DevOps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38250" y="5599658"/>
            <a:ext cx="1275397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A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Comprendre pourquoi le DevOps est apparu, sa culture et ses piliers — avant de toucher un seul outil.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527067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4265325" y="857250"/>
            <a:ext cx="2974925" cy="428625"/>
          </a:xfrm>
          <a:prstGeom prst="roundRect">
            <a:avLst>
              <a:gd name="adj" fmla="val 50000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465350" y="962025"/>
            <a:ext cx="2664123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— TASKFLOW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514475"/>
            <a:ext cx="178117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API, quatre développeurs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2571750"/>
            <a:ext cx="12753975" cy="904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2353"/>
              </a:lnSpc>
              <a:buNone/>
            </a:pPr>
            <a:r>
              <a:rPr lang="en-US" sz="2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Alice, Bob, Chloé et Karim développent </a:t>
            </a:r>
            <a:r>
              <a:rPr lang="en-US" sz="225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TaskFlow </a:t>
            </a:r>
            <a:r>
              <a:rPr lang="en-US" sz="2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une petite API de gestion de tâches. Aujourd'hui, leur méthode de mise en production :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5810250"/>
            <a:ext cx="4819650" cy="1162050"/>
          </a:xfrm>
          <a:prstGeom prst="roundRect">
            <a:avLst>
              <a:gd name="adj" fmla="val 6557"/>
            </a:avLst>
          </a:prstGeom>
          <a:solidFill>
            <a:srgbClr val="F8F8F8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65980" y="6200775"/>
            <a:ext cx="418318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développeur code en local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134100" y="6157913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6724650" y="5810250"/>
            <a:ext cx="4819650" cy="1162050"/>
          </a:xfrm>
          <a:prstGeom prst="roundRect">
            <a:avLst>
              <a:gd name="adj" fmla="val 6557"/>
            </a:avLst>
          </a:prstGeom>
          <a:solidFill>
            <a:srgbClr val="F8F8F8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2880" y="6200775"/>
            <a:ext cx="418318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Fichier ZIP envoyé par mail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1811000" y="6157913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401550" y="5686425"/>
            <a:ext cx="4838700" cy="1409700"/>
          </a:xfrm>
          <a:prstGeom prst="roundRect">
            <a:avLst>
              <a:gd name="adj" fmla="val 5405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729020" y="6086475"/>
            <a:ext cx="4183761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Copié à la main sur le serveur de production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047750" y="9267825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garde cette histoire en tête tout au long des quatre séances : chaque brique DevOps vient corriger un de ces problèmes.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735996" y="9677400"/>
            <a:ext cx="171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 DevOps : deux mondes séparés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95550"/>
            <a:ext cx="7372350" cy="6257925"/>
          </a:xfrm>
          <a:prstGeom prst="roundRect">
            <a:avLst>
              <a:gd name="adj" fmla="val 1218"/>
            </a:avLst>
          </a:prstGeom>
          <a:solidFill>
            <a:srgbClr val="F8F8F8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4475" y="2962275"/>
            <a:ext cx="708279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Développement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14475" y="3600450"/>
            <a:ext cx="663206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Veut livrer vite, ajouter des fonctionnalités, changer le code souvent.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514475" y="4667250"/>
            <a:ext cx="812304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14500" y="4752975"/>
            <a:ext cx="4884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41079" y="4667250"/>
            <a:ext cx="1634877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41104" y="4752975"/>
            <a:ext cx="13110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Fonctionnalités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190256" y="4667250"/>
            <a:ext cx="802481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0281" y="4752975"/>
            <a:ext cx="4786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953500" y="2495550"/>
            <a:ext cx="457200" cy="6296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9867900" y="2495550"/>
            <a:ext cx="7372350" cy="6257925"/>
          </a:xfrm>
          <a:prstGeom prst="roundRect">
            <a:avLst>
              <a:gd name="adj" fmla="val 1218"/>
            </a:avLst>
          </a:prstGeom>
          <a:solidFill>
            <a:srgbClr val="F8F8F8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4625" y="2962275"/>
            <a:ext cx="708279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Opérations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0334625" y="3600450"/>
            <a:ext cx="6632067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Veut un système stable, veut éviter tout changement risqué.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334625" y="4667250"/>
            <a:ext cx="1098798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34650" y="4752975"/>
            <a:ext cx="7749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Serveurs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1547723" y="4667250"/>
            <a:ext cx="972443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47748" y="4752975"/>
            <a:ext cx="64859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Réseau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2634466" y="4667250"/>
            <a:ext cx="1056233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34491" y="4752975"/>
            <a:ext cx="7323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3804999" y="4667250"/>
            <a:ext cx="1271588" cy="438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005024" y="4752975"/>
            <a:ext cx="9477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47750" y="9210675"/>
            <a:ext cx="1781175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équipes, deux objectifs contradictoires, souvent aucune communication directe.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7735996" y="9677400"/>
            <a:ext cx="171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problèmes du modèle traditionnel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19350"/>
            <a:ext cx="38100" cy="3281363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1352550" y="2419350"/>
            <a:ext cx="5378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Déploiements rares et risqués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52550" y="2857500"/>
            <a:ext cx="503613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mise en production est un événement redouté.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46800" y="2419350"/>
            <a:ext cx="38100" cy="3281363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851600" y="2419350"/>
            <a:ext cx="5378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Silos et « jeu du blâme »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851600" y="2857500"/>
            <a:ext cx="503613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 ça casse, on cherche un coupable plutôt qu'une cause.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45851" y="2419350"/>
            <a:ext cx="38100" cy="3281363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Text 9"/>
          <p:cNvSpPr/>
          <p:nvPr/>
        </p:nvSpPr>
        <p:spPr>
          <a:xfrm>
            <a:off x="12350651" y="2419350"/>
            <a:ext cx="5378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Tâches manuelles répétitives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350651" y="2857500"/>
            <a:ext cx="503613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Installation, configuration et tests refaits à la main chaque fois.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6005513"/>
            <a:ext cx="38100" cy="361473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6005513"/>
            <a:ext cx="5378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Délais de livraison longs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443663"/>
            <a:ext cx="503613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semaines entre une idée et sa mise en production.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46800" y="6005513"/>
            <a:ext cx="38100" cy="361473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1600" y="6005513"/>
            <a:ext cx="5378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ajoutée trop tard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851600" y="6443663"/>
            <a:ext cx="503613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audit de sécurité juste avant la mise en production, trop tard pour corriger sans retarder la livraison.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2045851" y="6005513"/>
            <a:ext cx="38100" cy="361473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Text 18"/>
          <p:cNvSpPr/>
          <p:nvPr/>
        </p:nvSpPr>
        <p:spPr>
          <a:xfrm>
            <a:off x="12350651" y="6005513"/>
            <a:ext cx="53783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Vulnérabilités découvertes en production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2350651" y="6443663"/>
            <a:ext cx="503613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 scan continu des dépendances, les failles sont trouvées trop tard — c'est le problème que résout le DevSecOps.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7735996" y="9677400"/>
            <a:ext cx="171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Historique : Agile → DevOps → Cloud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276475"/>
            <a:ext cx="157162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mouvement DevOps ne sort pas de nulle part : chaque décennie ajoute une brique sur laquelle la suivante s'appuie.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3190875"/>
            <a:ext cx="3238500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2287042" y="3419475"/>
            <a:ext cx="836116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2001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14237" y="3962400"/>
            <a:ext cx="17053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Manifeste Agile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9172" y="4381500"/>
            <a:ext cx="33356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Itérations courtes côté développement.</a:t>
            </a:r>
            <a:endParaRPr lang="en-US" sz="1575" dirty="0"/>
          </a:p>
        </p:txBody>
      </p:sp>
      <p:sp>
        <p:nvSpPr>
          <p:cNvPr id="9" name="Shape 7"/>
          <p:cNvSpPr/>
          <p:nvPr/>
        </p:nvSpPr>
        <p:spPr>
          <a:xfrm>
            <a:off x="4286250" y="3190875"/>
            <a:ext cx="3238500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5502176" y="3419475"/>
            <a:ext cx="882848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2009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4480069" y="3962400"/>
            <a:ext cx="28508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Premier « DevOpsDays »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462723" y="4381500"/>
            <a:ext cx="28854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L'agilité s'étend aux opérations.</a:t>
            </a:r>
            <a:endParaRPr lang="en-US" sz="1575" dirty="0"/>
          </a:p>
        </p:txBody>
      </p:sp>
      <p:sp>
        <p:nvSpPr>
          <p:cNvPr id="13" name="Shape 11"/>
          <p:cNvSpPr/>
          <p:nvPr/>
        </p:nvSpPr>
        <p:spPr>
          <a:xfrm>
            <a:off x="7524750" y="3190875"/>
            <a:ext cx="3238500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8774609" y="3419475"/>
            <a:ext cx="81483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2013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8743801" y="3962400"/>
            <a:ext cx="80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87744" y="4381500"/>
            <a:ext cx="331236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conteneurisation se démocratise.</a:t>
            </a:r>
            <a:endParaRPr lang="en-US" sz="1575" dirty="0"/>
          </a:p>
        </p:txBody>
      </p:sp>
      <p:sp>
        <p:nvSpPr>
          <p:cNvPr id="17" name="Shape 15"/>
          <p:cNvSpPr/>
          <p:nvPr/>
        </p:nvSpPr>
        <p:spPr>
          <a:xfrm>
            <a:off x="10763250" y="3190875"/>
            <a:ext cx="3238500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12010876" y="3419475"/>
            <a:ext cx="81929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2014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1759654" y="3962400"/>
            <a:ext cx="1245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0714673" y="4381500"/>
            <a:ext cx="33356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ouvre son orchestrateur de containers.</a:t>
            </a:r>
            <a:endParaRPr lang="en-US" sz="1575" dirty="0"/>
          </a:p>
        </p:txBody>
      </p:sp>
      <p:sp>
        <p:nvSpPr>
          <p:cNvPr id="21" name="Shape 19"/>
          <p:cNvSpPr/>
          <p:nvPr/>
        </p:nvSpPr>
        <p:spPr>
          <a:xfrm>
            <a:off x="14001750" y="3190875"/>
            <a:ext cx="3238500" cy="38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ext 20"/>
          <p:cNvSpPr/>
          <p:nvPr/>
        </p:nvSpPr>
        <p:spPr>
          <a:xfrm>
            <a:off x="15145494" y="3419475"/>
            <a:ext cx="102721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2015+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15036403" y="3962400"/>
            <a:ext cx="11691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natif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953173" y="4381500"/>
            <a:ext cx="3335655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programmable, GitOps, DevSecOps.</a:t>
            </a:r>
            <a:endParaRPr lang="en-US" sz="1575" dirty="0"/>
          </a:p>
        </p:txBody>
      </p:sp>
      <p:sp>
        <p:nvSpPr>
          <p:cNvPr id="25" name="Text 23"/>
          <p:cNvSpPr/>
          <p:nvPr/>
        </p:nvSpPr>
        <p:spPr>
          <a:xfrm>
            <a:off x="17735996" y="9677400"/>
            <a:ext cx="171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711029"/>
            <a:ext cx="169735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428750" y="4415879"/>
            <a:ext cx="14716125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4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DevOps est une culture qui réunit développement et exploitation pour livrer des logiciels plus vite, plus souvent, et de manière plus fiable.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7735996" y="9677400"/>
            <a:ext cx="1710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culture DevOps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95550"/>
            <a:ext cx="5194250" cy="3238500"/>
          </a:xfrm>
          <a:prstGeom prst="roundRect">
            <a:avLst>
              <a:gd name="adj" fmla="val 2353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876550"/>
            <a:ext cx="48754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Responsabilité partagée</a:t>
            </a:r>
            <a:endParaRPr lang="en-US" sz="2175" dirty="0"/>
          </a:p>
        </p:txBody>
      </p:sp>
      <p:sp>
        <p:nvSpPr>
          <p:cNvPr id="6" name="Text 4"/>
          <p:cNvSpPr/>
          <p:nvPr/>
        </p:nvSpPr>
        <p:spPr>
          <a:xfrm>
            <a:off x="1428750" y="3343275"/>
            <a:ext cx="456521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Ceux qui codent participent aussi à l'exploitation.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6546800" y="2495550"/>
            <a:ext cx="5194250" cy="3238500"/>
          </a:xfrm>
          <a:prstGeom prst="roundRect">
            <a:avLst>
              <a:gd name="adj" fmla="val 2353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927800" y="2876550"/>
            <a:ext cx="48754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sans blâme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6927800" y="3343275"/>
            <a:ext cx="456521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incident est une occasion d'apprendre, pas de désigner un coupable.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2045851" y="2495550"/>
            <a:ext cx="5194250" cy="3238500"/>
          </a:xfrm>
          <a:prstGeom prst="roundRect">
            <a:avLst>
              <a:gd name="adj" fmla="val 2353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12426851" y="2876550"/>
            <a:ext cx="48754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Amélioration continue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2426851" y="3343275"/>
            <a:ext cx="456521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cycle de livraison sert à ajuster le suivant.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47750" y="6038850"/>
            <a:ext cx="5194250" cy="3581400"/>
          </a:xfrm>
          <a:prstGeom prst="roundRect">
            <a:avLst>
              <a:gd name="adj" fmla="val 2128"/>
            </a:avLst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1428750" y="6419850"/>
            <a:ext cx="48754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market réduit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1428750" y="6886575"/>
            <a:ext cx="456521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idée arrive chez l'utilisateur en jours, pas en mois.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6546800" y="6038850"/>
            <a:ext cx="5194250" cy="3581400"/>
          </a:xfrm>
          <a:prstGeom prst="roundRect">
            <a:avLst>
              <a:gd name="adj" fmla="val 2128"/>
            </a:avLst>
          </a:prstGeom>
          <a:solidFill>
            <a:srgbClr val="F8F8F8"/>
          </a:solidFill>
          <a:ln/>
        </p:spPr>
      </p:sp>
      <p:sp>
        <p:nvSpPr>
          <p:cNvPr id="17" name="Text 15"/>
          <p:cNvSpPr/>
          <p:nvPr/>
        </p:nvSpPr>
        <p:spPr>
          <a:xfrm>
            <a:off x="6927800" y="6419850"/>
            <a:ext cx="48754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Sécurité de la supply chain</a:t>
            </a:r>
            <a:endParaRPr lang="en-US" sz="2175" dirty="0"/>
          </a:p>
        </p:txBody>
      </p:sp>
      <p:sp>
        <p:nvSpPr>
          <p:cNvPr id="18" name="Text 16"/>
          <p:cNvSpPr/>
          <p:nvPr/>
        </p:nvSpPr>
        <p:spPr>
          <a:xfrm>
            <a:off x="6927800" y="6886575"/>
            <a:ext cx="4565218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sécurité est intégrée dès le code et les dépendances, pas ajoutée à la fin (DevSecOps).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045851" y="6038850"/>
            <a:ext cx="5194250" cy="3581400"/>
          </a:xfrm>
          <a:prstGeom prst="roundRect">
            <a:avLst>
              <a:gd name="adj" fmla="val 2128"/>
            </a:avLst>
          </a:prstGeom>
          <a:solidFill>
            <a:srgbClr val="F8F8F8"/>
          </a:solidFill>
          <a:ln/>
        </p:spPr>
      </p:sp>
      <p:sp>
        <p:nvSpPr>
          <p:cNvPr id="20" name="Text 18"/>
          <p:cNvSpPr/>
          <p:nvPr/>
        </p:nvSpPr>
        <p:spPr>
          <a:xfrm>
            <a:off x="12426851" y="6419850"/>
            <a:ext cx="48754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Dev-Sec-Ops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12426851" y="6886575"/>
            <a:ext cx="4565218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Développement, sécurité et exploitation avancent ensemble, pas en cascade.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CALMS — les cinq piliers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336114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3333750"/>
            <a:ext cx="33611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819525"/>
            <a:ext cx="33611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Collaboration entre équipes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331940" y="2495550"/>
            <a:ext cx="3361313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4331940" y="3333750"/>
            <a:ext cx="33613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4331940" y="3819525"/>
            <a:ext cx="336131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Éliminer le travail manuel répétitif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616279" y="2495550"/>
            <a:ext cx="336114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</a:t>
            </a:r>
            <a:endParaRPr lang="en-US" sz="4500" dirty="0"/>
          </a:p>
        </p:txBody>
      </p:sp>
      <p:sp>
        <p:nvSpPr>
          <p:cNvPr id="11" name="Text 9"/>
          <p:cNvSpPr/>
          <p:nvPr/>
        </p:nvSpPr>
        <p:spPr>
          <a:xfrm>
            <a:off x="7616279" y="3333750"/>
            <a:ext cx="33611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616279" y="3819525"/>
            <a:ext cx="33611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Petits lots, réduire le gaspillage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0900470" y="2495550"/>
            <a:ext cx="336114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4500" dirty="0"/>
          </a:p>
        </p:txBody>
      </p:sp>
      <p:sp>
        <p:nvSpPr>
          <p:cNvPr id="14" name="Text 12"/>
          <p:cNvSpPr/>
          <p:nvPr/>
        </p:nvSpPr>
        <p:spPr>
          <a:xfrm>
            <a:off x="10900470" y="3333750"/>
            <a:ext cx="33611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900470" y="3819525"/>
            <a:ext cx="33611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Mesurer pour décider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4184660" y="2495550"/>
            <a:ext cx="3361149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</a:t>
            </a:r>
            <a:endParaRPr lang="en-US" sz="4500" dirty="0"/>
          </a:p>
        </p:txBody>
      </p:sp>
      <p:sp>
        <p:nvSpPr>
          <p:cNvPr id="17" name="Text 15"/>
          <p:cNvSpPr/>
          <p:nvPr/>
        </p:nvSpPr>
        <p:spPr>
          <a:xfrm>
            <a:off x="14184660" y="3333750"/>
            <a:ext cx="336114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Sharing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184660" y="3819525"/>
            <a:ext cx="3361149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Partager savoirs et outils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en un coup d'œil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1145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Nous détaillerons ces trois notions en séance 3 — pour l'instant, la vue d'ensemble.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38385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281363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continue (CI)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353050" y="3257550"/>
            <a:ext cx="69760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changement est testé et assemblé automatiquement.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47750" y="46577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4100513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Livraison continue (CD)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5353050" y="4076700"/>
            <a:ext cx="479329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logiciel est toujours prêt à être déployé.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1047750" y="54768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2" name="Text 10"/>
          <p:cNvSpPr/>
          <p:nvPr/>
        </p:nvSpPr>
        <p:spPr>
          <a:xfrm>
            <a:off x="1047750" y="4919663"/>
            <a:ext cx="44005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 continu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53050" y="4895850"/>
            <a:ext cx="775416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changement validé part en production sans action humaine.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Infrastructure as Code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4944517"/>
            <a:ext cx="7672007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L'infrastructure (serveurs, réseaux, bases de données) est décrite dans des fichiers versionnés — plutôt que configurée à la main, clic par clic.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9105900" y="4395936"/>
            <a:ext cx="8134350" cy="2514154"/>
          </a:xfrm>
          <a:prstGeom prst="roundRect">
            <a:avLst>
              <a:gd name="adj" fmla="val 3031"/>
            </a:avLst>
          </a:prstGeom>
          <a:solidFill>
            <a:srgbClr val="0D0D0D"/>
          </a:solidFill>
          <a:ln/>
        </p:spPr>
      </p:sp>
      <p:sp>
        <p:nvSpPr>
          <p:cNvPr id="6" name="Text 4"/>
          <p:cNvSpPr/>
          <p:nvPr/>
        </p:nvSpPr>
        <p:spPr>
          <a:xfrm>
            <a:off x="9448800" y="4738836"/>
            <a:ext cx="819340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222"/>
              </a:lnSpc>
              <a:buNone/>
            </a:pPr>
            <a:r>
              <a:rPr lang="en-US" sz="180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infrastructure.yaml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448800" y="5104507"/>
            <a:ext cx="819340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222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448800" y="5470178"/>
            <a:ext cx="819340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222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web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448800" y="5835848"/>
            <a:ext cx="819340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222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replicas: 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48800" y="6201519"/>
            <a:ext cx="8193405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42222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region: eu-west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7750" y="9267825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Résultat : une infrastructure reproductible, versionnée, et revue comme du code.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et observabilité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19350"/>
            <a:ext cx="16192500" cy="676275"/>
          </a:xfrm>
          <a:custGeom>
            <a:avLst/>
            <a:gdLst/>
            <a:ahLst/>
            <a:cxnLst/>
            <a:rect l="l" t="t" r="r" b="b"/>
            <a:pathLst>
              <a:path w="16192500" h="676275">
                <a:moveTo>
                  <a:pt x="76200" y="0"/>
                </a:moveTo>
                <a:lnTo>
                  <a:pt x="16116300" y="0"/>
                </a:lnTo>
                <a:arcTo wR="76200" hR="76200" stAng="16200000" swAng="5400000"/>
                <a:lnTo>
                  <a:pt x="16192500" y="676275"/>
                </a:lnTo>
                <a:lnTo>
                  <a:pt x="0" y="676275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" y="2609850"/>
            <a:ext cx="16297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7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Observabilité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3095625"/>
            <a:ext cx="5372100" cy="58674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095625"/>
            <a:ext cx="5372100" cy="5715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3533775"/>
            <a:ext cx="5238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Métriques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352550" y="4010025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CPU, latence, taux d'erreur — des chiffres suivis en continu.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457950" y="3095625"/>
            <a:ext cx="5372100" cy="58674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1" name="Shape 9"/>
          <p:cNvSpPr/>
          <p:nvPr/>
        </p:nvSpPr>
        <p:spPr>
          <a:xfrm>
            <a:off x="6457950" y="3095625"/>
            <a:ext cx="5372100" cy="5715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762750" y="3533775"/>
            <a:ext cx="5238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Logs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762750" y="4010025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L'historique détaillé de ce que fait l'application.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1868150" y="3095625"/>
            <a:ext cx="5372100" cy="586740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68150" y="3095625"/>
            <a:ext cx="5372100" cy="5715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12172950" y="3533775"/>
            <a:ext cx="52387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172950" y="4010025"/>
            <a:ext cx="490537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parcours d'une requête à travers les différents services.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9267825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piliers complémentaires : observer, c'est pouvoir répondre à « pourquoi ce comportement ? », pas seulement « est-ce que ça marche ? ».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boucles de rétroaction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4279900"/>
            <a:ext cx="3324225" cy="106680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340787" y="4622800"/>
            <a:ext cx="273815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4600575" y="4579938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153025" y="4279900"/>
            <a:ext cx="3324225" cy="106680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5446062" y="4622800"/>
            <a:ext cx="273815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705850" y="4579938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258300" y="4279900"/>
            <a:ext cx="3324225" cy="106680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9551337" y="4622800"/>
            <a:ext cx="273815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Déployer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811125" y="4579938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3363575" y="4279900"/>
            <a:ext cx="3324225" cy="106680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13656612" y="4622800"/>
            <a:ext cx="273815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Observer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 rot="-5400000">
            <a:off x="16916400" y="4579938"/>
            <a:ext cx="356235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1 — INTRODUCTION AU DEVOPS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concret : avant et après DevOps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952750"/>
            <a:ext cx="16192500" cy="190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495550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15250" y="2495550"/>
            <a:ext cx="5238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477750" y="2495550"/>
            <a:ext cx="5238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7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APRÈS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384810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3219450"/>
            <a:ext cx="73342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Fréquence de déploiement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715250" y="3219450"/>
            <a:ext cx="5238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fois par mois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477750" y="3219450"/>
            <a:ext cx="5238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fois par jour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047750" y="47339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4105275"/>
            <a:ext cx="73342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Temps de récupération après incident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715250" y="4105275"/>
            <a:ext cx="5238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heures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2477750" y="4105275"/>
            <a:ext cx="5238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Quelques minutes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47750" y="561975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4991100"/>
            <a:ext cx="73342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d'échec des déploiements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715250" y="4991100"/>
            <a:ext cx="5238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Élevé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2477750" y="4991100"/>
            <a:ext cx="5238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Faible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3651052"/>
            <a:ext cx="2974925" cy="428625"/>
          </a:xfrm>
          <a:prstGeom prst="roundRect">
            <a:avLst>
              <a:gd name="adj" fmla="val 50000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28775" y="3755827"/>
            <a:ext cx="2664123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— TASKFLOW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28750" y="4536877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Alice, Bob, Chloé et Karim veulent maintenant travailler ensemble sur le même code, sans s'écraser les uns les autres.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28750" y="6197798"/>
            <a:ext cx="169735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étape : versionner le code et collaborer avec Git.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4029968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FA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· 1H30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4591943"/>
            <a:ext cx="15716250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et collaboration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38250" y="5818733"/>
            <a:ext cx="13620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A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n'est pas qu'un outil de sauvegarde : c'est la première brique DevOps de collaboration.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4811464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4265325" y="857250"/>
            <a:ext cx="2974925" cy="428625"/>
          </a:xfrm>
          <a:prstGeom prst="roundRect">
            <a:avLst>
              <a:gd name="adj" fmla="val 50000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465350" y="962025"/>
            <a:ext cx="2664123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— TASKFLOW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514475"/>
            <a:ext cx="178117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Quatre développeurs, un seul dépôt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2509838" y="2571750"/>
            <a:ext cx="838200" cy="838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2471738" y="257175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660452" y="3562350"/>
            <a:ext cx="10098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653213" y="2571750"/>
            <a:ext cx="838200" cy="838200"/>
          </a:xfrm>
          <a:prstGeom prst="ellipse">
            <a:avLst/>
          </a:prstGeom>
          <a:solidFill>
            <a:srgbClr val="8B1520"/>
          </a:solidFill>
          <a:ln/>
        </p:spPr>
      </p:sp>
      <p:sp>
        <p:nvSpPr>
          <p:cNvPr id="10" name="Text 8"/>
          <p:cNvSpPr/>
          <p:nvPr/>
        </p:nvSpPr>
        <p:spPr>
          <a:xfrm>
            <a:off x="6615113" y="257175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1898" y="3562350"/>
            <a:ext cx="100984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796588" y="2571750"/>
            <a:ext cx="838200" cy="838200"/>
          </a:xfrm>
          <a:prstGeom prst="ellipse">
            <a:avLst/>
          </a:prstGeom>
          <a:solidFill>
            <a:srgbClr val="A91827"/>
          </a:solidFill>
          <a:ln/>
        </p:spPr>
      </p:sp>
      <p:sp>
        <p:nvSpPr>
          <p:cNvPr id="13" name="Text 11"/>
          <p:cNvSpPr/>
          <p:nvPr/>
        </p:nvSpPr>
        <p:spPr>
          <a:xfrm>
            <a:off x="10758488" y="257175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892135" y="3562350"/>
            <a:ext cx="133796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Chloé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4939963" y="2571750"/>
            <a:ext cx="838200" cy="838200"/>
          </a:xfrm>
          <a:prstGeom prst="ellipse">
            <a:avLst/>
          </a:prstGeom>
          <a:solidFill>
            <a:srgbClr val="5E5E5E"/>
          </a:solidFill>
          <a:ln/>
        </p:spPr>
      </p:sp>
      <p:sp>
        <p:nvSpPr>
          <p:cNvPr id="16" name="Text 14"/>
          <p:cNvSpPr/>
          <p:nvPr/>
        </p:nvSpPr>
        <p:spPr>
          <a:xfrm>
            <a:off x="14901863" y="2571750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5035659" y="3562350"/>
            <a:ext cx="13330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Karim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1466850" y="6100763"/>
            <a:ext cx="15354300" cy="28575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19" name="Shape 17"/>
          <p:cNvSpPr/>
          <p:nvPr/>
        </p:nvSpPr>
        <p:spPr>
          <a:xfrm>
            <a:off x="3057525" y="6100763"/>
            <a:ext cx="28575" cy="4191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0" name="Shape 18"/>
          <p:cNvSpPr/>
          <p:nvPr/>
        </p:nvSpPr>
        <p:spPr>
          <a:xfrm>
            <a:off x="7105650" y="6100763"/>
            <a:ext cx="28575" cy="419100"/>
          </a:xfrm>
          <a:prstGeom prst="rect">
            <a:avLst/>
          </a:prstGeom>
          <a:solidFill>
            <a:srgbClr val="8B1520"/>
          </a:solidFill>
          <a:ln/>
        </p:spPr>
      </p:sp>
      <p:sp>
        <p:nvSpPr>
          <p:cNvPr id="21" name="Shape 19"/>
          <p:cNvSpPr/>
          <p:nvPr/>
        </p:nvSpPr>
        <p:spPr>
          <a:xfrm>
            <a:off x="11153775" y="6100763"/>
            <a:ext cx="28575" cy="419100"/>
          </a:xfrm>
          <a:prstGeom prst="rect">
            <a:avLst/>
          </a:prstGeom>
          <a:solidFill>
            <a:srgbClr val="A91827"/>
          </a:solidFill>
          <a:ln/>
        </p:spPr>
      </p:sp>
      <p:sp>
        <p:nvSpPr>
          <p:cNvPr id="22" name="Shape 20"/>
          <p:cNvSpPr/>
          <p:nvPr/>
        </p:nvSpPr>
        <p:spPr>
          <a:xfrm>
            <a:off x="15201900" y="6100763"/>
            <a:ext cx="28575" cy="419100"/>
          </a:xfrm>
          <a:prstGeom prst="rect">
            <a:avLst/>
          </a:prstGeom>
          <a:solidFill>
            <a:srgbClr val="5E5E5E"/>
          </a:solidFill>
          <a:ln/>
        </p:spPr>
      </p:sp>
      <p:sp>
        <p:nvSpPr>
          <p:cNvPr id="23" name="Text 21"/>
          <p:cNvSpPr/>
          <p:nvPr/>
        </p:nvSpPr>
        <p:spPr>
          <a:xfrm>
            <a:off x="1919287" y="6519863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 d'Alice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5967413" y="6519863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 de Bob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015538" y="6519863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 de Chloé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4063662" y="6519863"/>
            <a:ext cx="23050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 de Karim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238125" y="6938963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47750" y="9220200"/>
            <a:ext cx="17811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250"/>
              </a:lnSpc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Chacun travaille sur sa propre branche, puis fusionne dans </a:t>
            </a:r>
            <a:r>
              <a:rPr lang="en-US" sz="2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</a:t>
            </a: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 dépôt </a:t>
            </a:r>
            <a:r>
              <a:rPr lang="en-US" sz="2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</a:t>
            </a: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partagé, hébergé sur </a:t>
            </a:r>
            <a:r>
              <a:rPr lang="en-US" sz="2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</a:t>
            </a: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 n'est pas GitHub / GitLab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95550"/>
            <a:ext cx="7810500" cy="7124700"/>
          </a:xfrm>
          <a:prstGeom prst="roundRect">
            <a:avLst>
              <a:gd name="adj" fmla="val 1070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2952750"/>
            <a:ext cx="758571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4950" y="3581400"/>
            <a:ext cx="710298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logiciel de contrôle de version, installé en local. Il fonctionne sans connexion internet.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391650" y="2495550"/>
            <a:ext cx="7848600" cy="7124700"/>
          </a:xfrm>
          <a:prstGeom prst="roundRect">
            <a:avLst>
              <a:gd name="adj" fmla="val 1070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67900" y="2971800"/>
            <a:ext cx="758571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/ GitLab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867900" y="3600450"/>
            <a:ext cx="7102983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plateformes qui hébergent les dépôts Git en ligne et ajoutent la collaboration : revue de code, tickets, CI/CD.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vocabulaire de base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37185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752725"/>
            <a:ext cx="2933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4095750" y="2743200"/>
            <a:ext cx="44724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dépôt : tout l'historique du projet.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047750" y="42576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638550"/>
            <a:ext cx="2933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Commit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4095750" y="3629025"/>
            <a:ext cx="619154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instantané des changements, avec un message.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47750" y="514350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524375"/>
            <a:ext cx="2933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Branch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4095750" y="4514850"/>
            <a:ext cx="609626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ligne de travail indépendante, isolée du reste.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047750" y="60293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410200"/>
            <a:ext cx="29337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Merge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4095750" y="5400675"/>
            <a:ext cx="489217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fusion d'une branche dans une autre.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cycle Git de base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5243513"/>
            <a:ext cx="2667000" cy="895350"/>
          </a:xfrm>
          <a:prstGeom prst="roundRect">
            <a:avLst>
              <a:gd name="adj" fmla="val 8511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312545" y="5548313"/>
            <a:ext cx="21374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clone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905250" y="5457825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4419600" y="5243513"/>
            <a:ext cx="2667000" cy="895350"/>
          </a:xfrm>
          <a:prstGeom prst="roundRect">
            <a:avLst>
              <a:gd name="adj" fmla="val 8511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4684395" y="5548313"/>
            <a:ext cx="21374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277100" y="5457825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7791450" y="5243513"/>
            <a:ext cx="2667000" cy="895350"/>
          </a:xfrm>
          <a:prstGeom prst="roundRect">
            <a:avLst>
              <a:gd name="adj" fmla="val 8511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8056245" y="5548313"/>
            <a:ext cx="21374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648950" y="5457825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1163300" y="5243513"/>
            <a:ext cx="2667000" cy="895350"/>
          </a:xfrm>
          <a:prstGeom prst="roundRect">
            <a:avLst>
              <a:gd name="adj" fmla="val 8511"/>
            </a:avLst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8095" y="5548313"/>
            <a:ext cx="21374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020800" y="5457825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4535150" y="5224463"/>
            <a:ext cx="2705100" cy="933450"/>
          </a:xfrm>
          <a:prstGeom prst="roundRect">
            <a:avLst>
              <a:gd name="adj" fmla="val 8163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8424" y="5548313"/>
            <a:ext cx="21385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47750" y="9267825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cycle se répète en permanence, souvent plusieurs fois par heure au sein d'une équipe.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commandes essentielles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19350"/>
            <a:ext cx="16192500" cy="7200900"/>
          </a:xfrm>
          <a:prstGeom prst="roundRect">
            <a:avLst>
              <a:gd name="adj" fmla="val 1058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2876550"/>
            <a:ext cx="157364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645"/>
              </a:lnSpc>
              <a:buNone/>
            </a:pPr>
            <a:r>
              <a:rPr lang="en-US" sz="2100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2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https://gitlab.com/taskflow/api.git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04950" y="3409950"/>
            <a:ext cx="157364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645"/>
              </a:lnSpc>
              <a:buNone/>
            </a:pPr>
            <a:r>
              <a:rPr lang="en-US" sz="2100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2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04950" y="3943350"/>
            <a:ext cx="157364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645"/>
              </a:lnSpc>
              <a:buNone/>
            </a:pPr>
            <a:r>
              <a:rPr lang="en-US" sz="2100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2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"Ajoute la route de création de tâche"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04950" y="4476750"/>
            <a:ext cx="157364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645"/>
              </a:lnSpc>
              <a:buNone/>
            </a:pPr>
            <a:r>
              <a:rPr lang="en-US" sz="2100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2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feature/creation-tache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04950" y="5010150"/>
            <a:ext cx="157364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645"/>
              </a:lnSpc>
              <a:buNone/>
            </a:pPr>
            <a:r>
              <a:rPr lang="en-US" sz="2100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2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 origin main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GitFlow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4224338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2781300" y="4343400"/>
            <a:ext cx="9772650" cy="57150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12858750" y="4205288"/>
            <a:ext cx="4819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Toujours en production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750" y="4900613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2781300" y="5019675"/>
            <a:ext cx="9772650" cy="5715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12858750" y="4881563"/>
            <a:ext cx="4819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Intègre toutes les fonctionnalités en cours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7750" y="5743575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E0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feature/*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2781300" y="5862638"/>
            <a:ext cx="9772650" cy="57150"/>
          </a:xfrm>
          <a:prstGeom prst="roundRect">
            <a:avLst>
              <a:gd name="adj" fmla="val 50000"/>
            </a:avLst>
          </a:prstGeom>
          <a:solidFill>
            <a:srgbClr val="E05565"/>
          </a:solidFill>
          <a:ln/>
        </p:spPr>
      </p:sp>
      <p:sp>
        <p:nvSpPr>
          <p:cNvPr id="12" name="Text 10"/>
          <p:cNvSpPr/>
          <p:nvPr/>
        </p:nvSpPr>
        <p:spPr>
          <a:xfrm>
            <a:off x="12858750" y="5557838"/>
            <a:ext cx="451294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branche par fonctionnalité, partie de develop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47750" y="6586538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8B15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release/*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2781300" y="6705600"/>
            <a:ext cx="9772650" cy="57150"/>
          </a:xfrm>
          <a:prstGeom prst="roundRect">
            <a:avLst>
              <a:gd name="adj" fmla="val 50000"/>
            </a:avLst>
          </a:prstGeom>
          <a:solidFill>
            <a:srgbClr val="8B1520"/>
          </a:solidFill>
          <a:ln/>
        </p:spPr>
      </p:sp>
      <p:sp>
        <p:nvSpPr>
          <p:cNvPr id="15" name="Text 13"/>
          <p:cNvSpPr/>
          <p:nvPr/>
        </p:nvSpPr>
        <p:spPr>
          <a:xfrm>
            <a:off x="12858750" y="6567488"/>
            <a:ext cx="48196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Stabilise develop avant la mise en production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7750" y="7429500"/>
            <a:ext cx="1571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hotfix/*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2781300" y="7548563"/>
            <a:ext cx="9772650" cy="57150"/>
          </a:xfrm>
          <a:prstGeom prst="roundRect">
            <a:avLst>
              <a:gd name="adj" fmla="val 50000"/>
            </a:avLst>
          </a:prstGeom>
          <a:solidFill>
            <a:srgbClr val="5E5E5E"/>
          </a:solidFill>
          <a:ln/>
        </p:spPr>
      </p:sp>
      <p:sp>
        <p:nvSpPr>
          <p:cNvPr id="18" name="Text 16"/>
          <p:cNvSpPr/>
          <p:nvPr/>
        </p:nvSpPr>
        <p:spPr>
          <a:xfrm>
            <a:off x="12858750" y="7243763"/>
            <a:ext cx="451294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Corrige la production directement depuis main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GitFlow face au trunk-based development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95550"/>
            <a:ext cx="7829550" cy="7124700"/>
          </a:xfrm>
          <a:prstGeom prst="roundRect">
            <a:avLst>
              <a:gd name="adj" fmla="val 1070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2952750"/>
            <a:ext cx="76066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GitFlow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04950" y="3552825"/>
            <a:ext cx="712260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Plusieurs branches longues (develop, release, hotfix). Structuré, mais lourd pour les équipes qui livrent souvent.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410700" y="2495550"/>
            <a:ext cx="7829550" cy="7124700"/>
          </a:xfrm>
          <a:prstGeom prst="roundRect">
            <a:avLst>
              <a:gd name="adj" fmla="val 1070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9867900" y="2952750"/>
            <a:ext cx="76066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Trunk-based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867900" y="3552825"/>
            <a:ext cx="712260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branches courtes, fusionnées rapidement dans main. Adapté au CI/CD et aux déploiements fréquents.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Pull / Merge Requests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5210175"/>
            <a:ext cx="3509963" cy="962025"/>
          </a:xfrm>
          <a:prstGeom prst="roundRect">
            <a:avLst>
              <a:gd name="adj" fmla="val 7921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299901" y="5514975"/>
            <a:ext cx="30056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Karim crée une branche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4748213" y="5457825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262563" y="5210175"/>
            <a:ext cx="3509963" cy="962025"/>
          </a:xfrm>
          <a:prstGeom prst="roundRect">
            <a:avLst>
              <a:gd name="adj" fmla="val 7921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5514713" y="5514975"/>
            <a:ext cx="30056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ouvre une Merge Request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8963025" y="5457825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477375" y="5210175"/>
            <a:ext cx="3509963" cy="962025"/>
          </a:xfrm>
          <a:prstGeom prst="roundRect">
            <a:avLst>
              <a:gd name="adj" fmla="val 7921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9729526" y="5514975"/>
            <a:ext cx="3005661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Alice relit et commente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177838" y="5457825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3692188" y="5219700"/>
            <a:ext cx="3548063" cy="942975"/>
          </a:xfrm>
          <a:prstGeom prst="roundRect">
            <a:avLst>
              <a:gd name="adj" fmla="val 8081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962817" y="5543550"/>
            <a:ext cx="300680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dans main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47750" y="9267825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Merge Request est le lieu où le code est discuté avant d'entrer dans le tronc commun.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relire le code d'un autre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19350"/>
            <a:ext cx="13735050" cy="15007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8378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Karim ouvre sa Merge Request. Avant qu'elle ne rejoigne main, Alice la relit : elle repère un bug, propose une meilleure façon d'écrire une fonction, et comprend au passage ce que fait cette partie du code — qu'elle n'avait jamais touchée.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4263033"/>
            <a:ext cx="13735050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8378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C'est tout l'intérêt de la revue : des bugs trouvés plus tôt, une connaissance qui circule dans l'équipe, un style de code qui reste cohérent. Une seule règle : on commente le code, jamais la personne qui l'a écrit.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Bien mener une revue de code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2099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66700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convention de code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667250" y="2647950"/>
            <a:ext cx="13830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Nommage, formatage, structure des fichiers — décidés une fois pour toute l'équipe, pour ne plus en discuter dans chaque revue.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40100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46710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Repérer les redondances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667250" y="3448050"/>
            <a:ext cx="13830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fonction déjà écrite ailleurs, une logique dupliquée — l'occasion de factoriser avant que ça ne se propage.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48101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26720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S'appuyer sur l'IA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4667250" y="4248150"/>
            <a:ext cx="13830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premier passage automatisé (style, bugs évidents, suggestions) avant la lecture humaine — qui reste seule décisionnaire.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586740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5048250"/>
            <a:ext cx="3335655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revues courtes et fréquentes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4667250" y="5176838"/>
            <a:ext cx="13830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Mieux vaut relire dix petites Merge Requests qu'une seule qui change tout le projet.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Conventional Commits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193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format de message de commit lisible par les humains — et par les outils.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3181350"/>
            <a:ext cx="16192500" cy="6438900"/>
          </a:xfrm>
          <a:prstGeom prst="roundRect">
            <a:avLst>
              <a:gd name="adj" fmla="val 1183"/>
            </a:avLst>
          </a:prstGeom>
          <a:solidFill>
            <a:srgbClr val="0D0D0D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3562350"/>
            <a:ext cx="158934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3333"/>
              </a:lnSpc>
              <a:buNone/>
            </a:pPr>
            <a:r>
              <a:rPr lang="en-US" sz="19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feat: </a:t>
            </a:r>
            <a:r>
              <a:rPr lang="en-US" sz="1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ajoute l'endpoint de suppression de tâche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28750" y="4057650"/>
            <a:ext cx="158934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3333"/>
              </a:lnSpc>
              <a:buNone/>
            </a:pPr>
            <a:r>
              <a:rPr lang="en-US" sz="19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</a:t>
            </a:r>
            <a:r>
              <a:rPr lang="en-US" sz="1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corrige le tri des tâches par date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28750" y="4552950"/>
            <a:ext cx="158934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3333"/>
              </a:lnSpc>
              <a:buNone/>
            </a:pPr>
            <a:r>
              <a:rPr lang="en-US" sz="19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chore: </a:t>
            </a:r>
            <a:r>
              <a:rPr lang="en-US" sz="1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 à jour les dépendances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28750" y="5048250"/>
            <a:ext cx="158934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3333"/>
              </a:lnSpc>
              <a:buNone/>
            </a:pPr>
            <a:r>
              <a:rPr lang="en-US" sz="19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docs: </a:t>
            </a:r>
            <a:r>
              <a:rPr lang="en-US" sz="1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complète le README d'installation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.gitignore, tags et releases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83086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.gitignore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3048000"/>
            <a:ext cx="8308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Exclut du suivi les fichiers qui n'ont rien à faire dans l'historique.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1047750" y="3648075"/>
            <a:ext cx="7553325" cy="1622971"/>
          </a:xfrm>
          <a:prstGeom prst="roundRect">
            <a:avLst>
              <a:gd name="adj" fmla="val 4695"/>
            </a:avLst>
          </a:prstGeom>
          <a:solidFill>
            <a:srgbClr val="0D0D0D"/>
          </a:solidFill>
          <a:ln/>
        </p:spPr>
      </p:sp>
      <p:sp>
        <p:nvSpPr>
          <p:cNvPr id="7" name="Text 5"/>
          <p:cNvSpPr/>
          <p:nvPr/>
        </p:nvSpPr>
        <p:spPr>
          <a:xfrm>
            <a:off x="1276350" y="3876675"/>
            <a:ext cx="730900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1111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76350" y="4265265"/>
            <a:ext cx="730900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1111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76350" y="4653855"/>
            <a:ext cx="730900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1111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*.log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34475" y="2495550"/>
            <a:ext cx="19050" cy="7124700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1" name="Text 9"/>
          <p:cNvSpPr/>
          <p:nvPr/>
        </p:nvSpPr>
        <p:spPr>
          <a:xfrm>
            <a:off x="9686925" y="2495550"/>
            <a:ext cx="83086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&amp; releases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686925" y="3048000"/>
            <a:ext cx="83086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Marquent un point précis de l'historique comme une version publiée.</a:t>
            </a:r>
            <a:endParaRPr lang="en-US" sz="2025" dirty="0"/>
          </a:p>
        </p:txBody>
      </p:sp>
      <p:sp>
        <p:nvSpPr>
          <p:cNvPr id="13" name="Shape 11"/>
          <p:cNvSpPr/>
          <p:nvPr/>
        </p:nvSpPr>
        <p:spPr>
          <a:xfrm>
            <a:off x="9686925" y="3648075"/>
            <a:ext cx="7553325" cy="1234380"/>
          </a:xfrm>
          <a:prstGeom prst="roundRect">
            <a:avLst>
              <a:gd name="adj" fmla="val 6173"/>
            </a:avLst>
          </a:prstGeom>
          <a:solidFill>
            <a:srgbClr val="0D0D0D"/>
          </a:solidFill>
          <a:ln/>
        </p:spPr>
      </p:sp>
      <p:sp>
        <p:nvSpPr>
          <p:cNvPr id="14" name="Text 12"/>
          <p:cNvSpPr/>
          <p:nvPr/>
        </p:nvSpPr>
        <p:spPr>
          <a:xfrm>
            <a:off x="9915525" y="3876675"/>
            <a:ext cx="730900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1111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tag v1.2.0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915525" y="4265265"/>
            <a:ext cx="7309009" cy="4266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1111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--tags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2 — GIT ET COLLABORATION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Quelques erreurs classiques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3623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2890838"/>
            <a:ext cx="76200" cy="76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1428750" y="2724150"/>
            <a:ext cx="4377139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Committer directement sur </a:t>
            </a:r>
            <a:r>
              <a:rPr lang="en-US" sz="2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47750" y="42386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8" name="Shape 6"/>
          <p:cNvSpPr/>
          <p:nvPr/>
        </p:nvSpPr>
        <p:spPr>
          <a:xfrm>
            <a:off x="1047750" y="3767138"/>
            <a:ext cx="76200" cy="76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1428750" y="3600450"/>
            <a:ext cx="612180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Messages de commit vagues (« fix », « update »)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047750" y="51149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4643438"/>
            <a:ext cx="76200" cy="76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1428750" y="4476750"/>
            <a:ext cx="6321370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225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force push </a:t>
            </a: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écrase le travail des autres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047750" y="59912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4" name="Shape 12"/>
          <p:cNvSpPr/>
          <p:nvPr/>
        </p:nvSpPr>
        <p:spPr>
          <a:xfrm>
            <a:off x="1047750" y="5519738"/>
            <a:ext cx="76200" cy="7620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5" name="Text 13"/>
          <p:cNvSpPr/>
          <p:nvPr/>
        </p:nvSpPr>
        <p:spPr>
          <a:xfrm>
            <a:off x="1428750" y="5353050"/>
            <a:ext cx="673801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2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commit fourre-tout pour dix fonctionnalités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3651052"/>
            <a:ext cx="2974925" cy="428625"/>
          </a:xfrm>
          <a:prstGeom prst="roundRect">
            <a:avLst>
              <a:gd name="adj" fmla="val 50000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28775" y="3755827"/>
            <a:ext cx="2664123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— TASKFLOW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28750" y="4536877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code de TaskFlow est maintenant versionné, revu et fusionné en équipe. Mais chaque fusion est encore vérifiée à la main.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28750" y="6197798"/>
            <a:ext cx="169735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étape : automatiser les tests et la mise en production avec le CI/CD.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4029968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FA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· 1H30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4591943"/>
            <a:ext cx="15716250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8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1238250" y="5818733"/>
            <a:ext cx="13620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A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un simple git push peut finir en déploiement en production.</a:t>
            </a:r>
            <a:endParaRPr lang="en-US" sz="2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42128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4265325" y="857250"/>
            <a:ext cx="2974925" cy="428625"/>
          </a:xfrm>
          <a:prstGeom prst="roundRect">
            <a:avLst>
              <a:gd name="adj" fmla="val 50000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465350" y="962025"/>
            <a:ext cx="2664123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— TASKFLOW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514475"/>
            <a:ext cx="178117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Chaque push doit être vérifié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2647950"/>
            <a:ext cx="1373505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L'équipe fusionne des Merge Requests plusieurs fois par jour. Relire à la main tous les tests avant chaque fusion devient impossible : il faut automatiser.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pipeline complet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19350"/>
            <a:ext cx="1769418" cy="6657975"/>
          </a:xfrm>
          <a:prstGeom prst="roundRect">
            <a:avLst>
              <a:gd name="adj" fmla="val 4307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009650" y="2419350"/>
            <a:ext cx="1845618" cy="669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007668" y="2419350"/>
            <a:ext cx="400050" cy="669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3522018" y="2419350"/>
            <a:ext cx="2795439" cy="6657975"/>
          </a:xfrm>
          <a:prstGeom prst="roundRect">
            <a:avLst>
              <a:gd name="adj" fmla="val 2726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4661" y="4019550"/>
            <a:ext cx="25301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CI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3769668" y="4543425"/>
            <a:ext cx="2300139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960168" y="4695825"/>
            <a:ext cx="19953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725" dirty="0"/>
          </a:p>
        </p:txBody>
      </p:sp>
      <p:sp>
        <p:nvSpPr>
          <p:cNvPr id="11" name="Shape 9"/>
          <p:cNvSpPr/>
          <p:nvPr/>
        </p:nvSpPr>
        <p:spPr>
          <a:xfrm>
            <a:off x="3769668" y="5314950"/>
            <a:ext cx="2300139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960168" y="5467350"/>
            <a:ext cx="19953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3769668" y="6086475"/>
            <a:ext cx="2300139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960168" y="6238875"/>
            <a:ext cx="19953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3769668" y="6858000"/>
            <a:ext cx="2300139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960168" y="7010400"/>
            <a:ext cx="19953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sécurité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6507956" y="2419350"/>
            <a:ext cx="400050" cy="669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7022306" y="2419350"/>
            <a:ext cx="1769269" cy="6657975"/>
          </a:xfrm>
          <a:prstGeom prst="roundRect">
            <a:avLst>
              <a:gd name="adj" fmla="val 4307"/>
            </a:avLst>
          </a:prstGeom>
          <a:solidFill>
            <a:srgbClr val="F8F8F8"/>
          </a:solidFill>
          <a:ln/>
        </p:spPr>
      </p:sp>
      <p:sp>
        <p:nvSpPr>
          <p:cNvPr id="19" name="Text 17"/>
          <p:cNvSpPr/>
          <p:nvPr/>
        </p:nvSpPr>
        <p:spPr>
          <a:xfrm>
            <a:off x="6984206" y="2419350"/>
            <a:ext cx="1845469" cy="669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8982075" y="2419350"/>
            <a:ext cx="400050" cy="669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496425" y="2419350"/>
            <a:ext cx="2795439" cy="6657975"/>
          </a:xfrm>
          <a:prstGeom prst="roundRect">
            <a:avLst>
              <a:gd name="adj" fmla="val 2726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29068" y="4019550"/>
            <a:ext cx="253015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CD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9744075" y="4543425"/>
            <a:ext cx="2300139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9934575" y="4695825"/>
            <a:ext cx="19953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IaC</a:t>
            </a:r>
            <a:endParaRPr lang="en-US" sz="1725" dirty="0"/>
          </a:p>
        </p:txBody>
      </p:sp>
      <p:sp>
        <p:nvSpPr>
          <p:cNvPr id="25" name="Shape 23"/>
          <p:cNvSpPr/>
          <p:nvPr/>
        </p:nvSpPr>
        <p:spPr>
          <a:xfrm>
            <a:off x="9744075" y="5314950"/>
            <a:ext cx="2300139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9934575" y="5467350"/>
            <a:ext cx="19953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des coûts</a:t>
            </a:r>
            <a:endParaRPr lang="en-US" sz="1725" dirty="0"/>
          </a:p>
        </p:txBody>
      </p:sp>
      <p:sp>
        <p:nvSpPr>
          <p:cNvPr id="27" name="Shape 25"/>
          <p:cNvSpPr/>
          <p:nvPr/>
        </p:nvSpPr>
        <p:spPr>
          <a:xfrm>
            <a:off x="9744075" y="6086475"/>
            <a:ext cx="2300139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9934575" y="6238875"/>
            <a:ext cx="19953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(OPA)</a:t>
            </a:r>
            <a:endParaRPr lang="en-US" sz="1725" dirty="0"/>
          </a:p>
        </p:txBody>
      </p:sp>
      <p:sp>
        <p:nvSpPr>
          <p:cNvPr id="29" name="Shape 27"/>
          <p:cNvSpPr/>
          <p:nvPr/>
        </p:nvSpPr>
        <p:spPr>
          <a:xfrm>
            <a:off x="9744075" y="6858000"/>
            <a:ext cx="2300139" cy="619125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9934575" y="7010400"/>
            <a:ext cx="1995339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Déploiement</a:t>
            </a:r>
            <a:endParaRPr lang="en-US" sz="1725" dirty="0"/>
          </a:p>
        </p:txBody>
      </p:sp>
      <p:sp>
        <p:nvSpPr>
          <p:cNvPr id="31" name="Text 29"/>
          <p:cNvSpPr/>
          <p:nvPr/>
        </p:nvSpPr>
        <p:spPr>
          <a:xfrm>
            <a:off x="12482364" y="2419350"/>
            <a:ext cx="400050" cy="669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12996714" y="2419350"/>
            <a:ext cx="1769418" cy="6657975"/>
          </a:xfrm>
          <a:prstGeom prst="roundRect">
            <a:avLst>
              <a:gd name="adj" fmla="val 4307"/>
            </a:avLst>
          </a:prstGeom>
          <a:solidFill>
            <a:srgbClr val="F8F8F8"/>
          </a:solidFill>
          <a:ln/>
        </p:spPr>
      </p:sp>
      <p:sp>
        <p:nvSpPr>
          <p:cNvPr id="33" name="Text 31"/>
          <p:cNvSpPr/>
          <p:nvPr/>
        </p:nvSpPr>
        <p:spPr>
          <a:xfrm>
            <a:off x="12958614" y="2419350"/>
            <a:ext cx="1845618" cy="669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4956631" y="2419350"/>
            <a:ext cx="400050" cy="669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35" name="Shape 33"/>
          <p:cNvSpPr/>
          <p:nvPr/>
        </p:nvSpPr>
        <p:spPr>
          <a:xfrm>
            <a:off x="15470981" y="2419350"/>
            <a:ext cx="1769269" cy="6657975"/>
          </a:xfrm>
          <a:prstGeom prst="roundRect">
            <a:avLst>
              <a:gd name="adj" fmla="val 4307"/>
            </a:avLst>
          </a:prstGeom>
          <a:solidFill>
            <a:srgbClr val="F8F8F8"/>
          </a:solidFill>
          <a:ln/>
        </p:spPr>
      </p:sp>
      <p:sp>
        <p:nvSpPr>
          <p:cNvPr id="36" name="Text 34"/>
          <p:cNvSpPr/>
          <p:nvPr/>
        </p:nvSpPr>
        <p:spPr>
          <a:xfrm>
            <a:off x="15432881" y="2419350"/>
            <a:ext cx="1845469" cy="6696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047750" y="9382125"/>
            <a:ext cx="17811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seul push déclenche toute cette chaîne, sans intervention manuelle — la CD porte ses propres contrôles, au même titre que la CI.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5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et CD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95550"/>
            <a:ext cx="7829550" cy="2838450"/>
          </a:xfrm>
          <a:prstGeom prst="roundRect">
            <a:avLst>
              <a:gd name="adj" fmla="val 1070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2952750"/>
            <a:ext cx="76066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- Intégration continue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504950" y="3552825"/>
            <a:ext cx="712260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changement est testé et intégré automatiquement au code commun.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410700" y="2495550"/>
            <a:ext cx="7829550" cy="2838450"/>
          </a:xfrm>
          <a:prstGeom prst="roundRect">
            <a:avLst>
              <a:gd name="adj" fmla="val 1070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9867900" y="2952750"/>
            <a:ext cx="76066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 - Déploiement continu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867900" y="3552825"/>
            <a:ext cx="712260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changement validé est livré automatiquement, avec ses propres étapes de validation.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5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065FB3C-0BD8-7CFC-00BB-54C77E5B3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3870" y="5334000"/>
            <a:ext cx="9500260" cy="488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Anatomie d'un pipeline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554603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3009900"/>
            <a:ext cx="5193106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étape logique du pipeline (test, build, deploy).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6623000" y="2495550"/>
            <a:ext cx="5546199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623000" y="3009900"/>
            <a:ext cx="554619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tâche exécutée au sein d'un stage.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198400" y="2495550"/>
            <a:ext cx="5546035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198400" y="3009900"/>
            <a:ext cx="55460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machine qui exécute réellement les jobs.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Runners : quel type choisir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18135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652713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095750" y="2628900"/>
            <a:ext cx="79106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Meilleures performances, scalabilité — le choix par défaut en production.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47750" y="39528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424238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95750" y="3400425"/>
            <a:ext cx="76318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Isolation simple et rapide à mettre en place, le plus courant en équipe.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47750" y="472440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195763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VirtualBox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4095750" y="4171950"/>
            <a:ext cx="6993076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Utile quand le job a besoin d'un système d'exploitation complet.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47750" y="54959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4967288"/>
            <a:ext cx="29337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Système hôte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4095750" y="4943475"/>
            <a:ext cx="7267129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d'isolation : à réserver aux petits projets, à éviter en entreprise.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Artifacts, variables et secrets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83086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3048000"/>
            <a:ext cx="77799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fichiers produits par un job (binaire, rapport de tests) transmis au job suivant.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34475" y="2495550"/>
            <a:ext cx="19050" cy="7124700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7" name="Text 5"/>
          <p:cNvSpPr/>
          <p:nvPr/>
        </p:nvSpPr>
        <p:spPr>
          <a:xfrm>
            <a:off x="9686925" y="2495550"/>
            <a:ext cx="83086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&amp; secrets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86925" y="3048000"/>
            <a:ext cx="77799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et données sensibles (clés API, mots de passe) injectées sans jamais apparaître dans le code.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gestion des secrets sur GitLab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1718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64795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CI/CD masquées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667250" y="2628900"/>
            <a:ext cx="13830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Déclarées dans les paramètres du projet, jamais dans le </a:t>
            </a:r>
            <a:r>
              <a:rPr lang="en-US" sz="1800" dirty="0">
                <a:solidFill>
                  <a:srgbClr val="5E5E5E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.gitlab-ci.yml </a:t>
            </a: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masquées dans les logs.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7750" y="39338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40995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 protégées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667250" y="3390900"/>
            <a:ext cx="13830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Réservées aux branches et tags protégés — un secret de production n'est jamais exposé à une branche de développement.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46958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17195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detection (scan)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4667250" y="4152900"/>
            <a:ext cx="13830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job de pipeline dédié scanne chaque commit à la recherche de clés ou mots de passe oubliés dans le code.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7750" y="54578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493395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Pre-commit hooks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4667250" y="4914900"/>
            <a:ext cx="13830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contrôle local, avant même le commit, qui bloque l'ajout d'un secret détecté — plus rapide qu'attendre le pipeline.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62198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695950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régulière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4667250" y="5676900"/>
            <a:ext cx="138303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secret qui ne change jamais est un secret qui, une fois fuité, reste exploitable indéfiniment.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5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Environnements de déploiement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571750"/>
            <a:ext cx="2474863" cy="3097800"/>
          </a:xfrm>
          <a:prstGeom prst="roundRect">
            <a:avLst>
              <a:gd name="adj" fmla="val 3079"/>
            </a:avLst>
          </a:prstGeom>
          <a:solidFill>
            <a:srgbClr val="FFF5F6"/>
          </a:solidFill>
          <a:ln w="28575">
            <a:solidFill>
              <a:srgbClr val="C810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8225" y="2600325"/>
            <a:ext cx="2493913" cy="308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3598813" y="2571750"/>
            <a:ext cx="247650" cy="311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46463" y="2571750"/>
            <a:ext cx="1859905" cy="3097800"/>
          </a:xfrm>
          <a:prstGeom prst="roundRect">
            <a:avLst>
              <a:gd name="adj" fmla="val 4097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3808363" y="2571750"/>
            <a:ext cx="1936105" cy="311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Recette</a:t>
            </a:r>
            <a:endParaRPr lang="en-US" sz="1425" dirty="0"/>
          </a:p>
        </p:txBody>
      </p:sp>
      <p:sp>
        <p:nvSpPr>
          <p:cNvPr id="9" name="Text 7"/>
          <p:cNvSpPr/>
          <p:nvPr/>
        </p:nvSpPr>
        <p:spPr>
          <a:xfrm>
            <a:off x="5782568" y="2571750"/>
            <a:ext cx="247650" cy="311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30218" y="2571750"/>
            <a:ext cx="1859905" cy="3097800"/>
          </a:xfrm>
          <a:prstGeom prst="roundRect">
            <a:avLst>
              <a:gd name="adj" fmla="val 4097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5992118" y="2571750"/>
            <a:ext cx="1936105" cy="311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Vérification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7966323" y="2571750"/>
            <a:ext cx="247650" cy="311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13973" y="2571750"/>
            <a:ext cx="1859905" cy="3097800"/>
          </a:xfrm>
          <a:prstGeom prst="roundRect">
            <a:avLst>
              <a:gd name="adj" fmla="val 4097"/>
            </a:avLst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8175873" y="2571750"/>
            <a:ext cx="1936105" cy="311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10150078" y="2571750"/>
            <a:ext cx="247650" cy="311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397728" y="2571750"/>
            <a:ext cx="1859905" cy="3097800"/>
          </a:xfrm>
          <a:prstGeom prst="roundRect">
            <a:avLst>
              <a:gd name="adj" fmla="val 4097"/>
            </a:avLst>
          </a:prstGeom>
          <a:solidFill>
            <a:srgbClr val="F8F8F8"/>
          </a:solidFill>
          <a:ln/>
        </p:spPr>
      </p:sp>
      <p:sp>
        <p:nvSpPr>
          <p:cNvPr id="17" name="Text 15"/>
          <p:cNvSpPr/>
          <p:nvPr/>
        </p:nvSpPr>
        <p:spPr>
          <a:xfrm>
            <a:off x="10359628" y="2571750"/>
            <a:ext cx="1936105" cy="311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Homologation</a:t>
            </a:r>
            <a:endParaRPr lang="en-US" sz="1425" dirty="0"/>
          </a:p>
        </p:txBody>
      </p:sp>
      <p:sp>
        <p:nvSpPr>
          <p:cNvPr id="18" name="Text 16"/>
          <p:cNvSpPr/>
          <p:nvPr/>
        </p:nvSpPr>
        <p:spPr>
          <a:xfrm>
            <a:off x="12333833" y="2571750"/>
            <a:ext cx="247650" cy="311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2581483" y="2571750"/>
            <a:ext cx="1859905" cy="3097800"/>
          </a:xfrm>
          <a:prstGeom prst="roundRect">
            <a:avLst>
              <a:gd name="adj" fmla="val 4097"/>
            </a:avLst>
          </a:prstGeom>
          <a:solidFill>
            <a:srgbClr val="F8F8F8"/>
          </a:solidFill>
          <a:ln/>
        </p:spPr>
      </p:sp>
      <p:sp>
        <p:nvSpPr>
          <p:cNvPr id="20" name="Text 18"/>
          <p:cNvSpPr/>
          <p:nvPr/>
        </p:nvSpPr>
        <p:spPr>
          <a:xfrm>
            <a:off x="12543383" y="2571750"/>
            <a:ext cx="1936105" cy="311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Préproduction</a:t>
            </a:r>
            <a:endParaRPr lang="en-US" sz="1425" dirty="0"/>
          </a:p>
        </p:txBody>
      </p:sp>
      <p:sp>
        <p:nvSpPr>
          <p:cNvPr id="21" name="Text 19"/>
          <p:cNvSpPr/>
          <p:nvPr/>
        </p:nvSpPr>
        <p:spPr>
          <a:xfrm>
            <a:off x="14517588" y="2571750"/>
            <a:ext cx="247650" cy="3117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14765238" y="2571750"/>
            <a:ext cx="2475012" cy="3097800"/>
          </a:xfrm>
          <a:prstGeom prst="roundRect">
            <a:avLst>
              <a:gd name="adj" fmla="val 3079"/>
            </a:avLst>
          </a:prstGeom>
          <a:solidFill>
            <a:srgbClr val="FFF5F6"/>
          </a:solidFill>
          <a:ln w="28575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755713" y="2600325"/>
            <a:ext cx="2494062" cy="30877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47750" y="6108700"/>
            <a:ext cx="16678275" cy="354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environnement se rapproche progressivement des conditions réelles. Seuls le </a:t>
            </a:r>
            <a:r>
              <a:rPr lang="en-US" sz="195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</a:t>
            </a: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la </a:t>
            </a:r>
            <a:r>
              <a:rPr lang="en-US" sz="195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</a:t>
            </a:r>
            <a:r>
              <a:rPr lang="en-US" sz="1950" dirty="0" err="1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sont</a:t>
            </a: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50" dirty="0" err="1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incontournables</a:t>
            </a:r>
            <a:r>
              <a:rPr lang="en-US" sz="195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Les étapes intermédiaires varient selon le projet et son niveau d'exigence.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déploiement, vu depuis GitLab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431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GitLab garde la trace de chaque déploiement par environnement : quand, par qui, et son état.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3790950"/>
            <a:ext cx="16192500" cy="4197350"/>
          </a:xfrm>
          <a:prstGeom prst="roundRect">
            <a:avLst>
              <a:gd name="adj" fmla="val 1156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38100" dist="9525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6238" y="4876800"/>
            <a:ext cx="14639925" cy="160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5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GitLab CI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19350"/>
            <a:ext cx="13735050" cy="9923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pipeline est décrit dans un unique fichier </a:t>
            </a:r>
            <a:r>
              <a:rPr lang="en-US" sz="2400" dirty="0">
                <a:solidFill>
                  <a:srgbClr val="444444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.gitlab-ci.yml </a:t>
            </a: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versionné avec le code, exécuté automatiquement à chaque push.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1" y="4567436"/>
            <a:ext cx="2978150" cy="428625"/>
          </a:xfrm>
          <a:prstGeom prst="roundRect">
            <a:avLst>
              <a:gd name="adj" fmla="val 50000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4672211"/>
            <a:ext cx="3181947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 D’EXÉCUTION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5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B57AC51-CF0E-E5EA-6175-DE46BA1B3F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776" y="5518466"/>
            <a:ext cx="15964578" cy="1907717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1AD049DE-1DF1-04B9-8C6A-03A172C86B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6" y="7745214"/>
            <a:ext cx="12673487" cy="175153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: .gitlab-ci.yml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343150"/>
            <a:ext cx="16192500" cy="7277100"/>
          </a:xfrm>
          <a:prstGeom prst="roundRect">
            <a:avLst>
              <a:gd name="adj" fmla="val 1047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72415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stages: </a:t>
            </a: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[test, build, deploy]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312420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28750" y="352425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stage: test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28750" y="392430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npm test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28750" y="432435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28750" y="472440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stage: build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28750" y="512445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docker build -t taskflow-api 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28750" y="552450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deploy: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28750" y="592455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stage: deploy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28750" y="632460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script: kubectl apply -f k8s/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28750" y="672465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only: [main]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Stages séquentiels, jobs parallèles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43150"/>
            <a:ext cx="147161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stages s'exécutent l'un après l'autre — mais à l'intérieur d'un même stage, les jobs tournent en parallèle si des runners sont disponibles.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3409950"/>
            <a:ext cx="16192500" cy="6210300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38100" dist="9525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5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C1388E80-E06F-7523-A09A-C98E17D7D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5493" y="3885930"/>
            <a:ext cx="11408528" cy="506757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 que ce pipeline produit dans GitLab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43150"/>
            <a:ext cx="157162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stages </a:t>
            </a:r>
            <a:r>
              <a:rPr lang="en-US" sz="2100" dirty="0">
                <a:solidFill>
                  <a:srgbClr val="5E5E5E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100" dirty="0">
                <a:solidFill>
                  <a:srgbClr val="5E5E5E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</a:t>
            </a: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 </a:t>
            </a:r>
            <a:r>
              <a:rPr lang="en-US" sz="2100" dirty="0">
                <a:solidFill>
                  <a:srgbClr val="5E5E5E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 </a:t>
            </a: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</a:t>
            </a:r>
            <a:r>
              <a:rPr lang="en-US" sz="2100" dirty="0">
                <a:solidFill>
                  <a:srgbClr val="5E5E5E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.gitlab-ci.yml </a:t>
            </a: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deviennent cette vue, groupée par étape.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3028950"/>
            <a:ext cx="16192500" cy="6591300"/>
          </a:xfrm>
          <a:prstGeom prst="roundRect">
            <a:avLst>
              <a:gd name="adj" fmla="val 1156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38100" dist="9525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1500" dirty="0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E47AC6B-4882-17A8-5D33-233DDBA2C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6760" y="3500043"/>
            <a:ext cx="12041280" cy="5649113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19350"/>
            <a:ext cx="1373505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L'équivalent chez GitHub : des </a:t>
            </a:r>
            <a:r>
              <a:rPr lang="en-US" sz="2400" dirty="0">
                <a:solidFill>
                  <a:srgbClr val="444444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 </a:t>
            </a: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déclenchés par des événements (push, pull request), décrits en YAML dans </a:t>
            </a:r>
            <a:r>
              <a:rPr lang="en-US" sz="2400" dirty="0">
                <a:solidFill>
                  <a:srgbClr val="444444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</a:t>
            </a: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</a:t>
            </a:r>
            <a:endParaRPr lang="en-US" sz="15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: workflow GitHub Actions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343150"/>
            <a:ext cx="16192500" cy="7277100"/>
          </a:xfrm>
          <a:prstGeom prst="roundRect">
            <a:avLst>
              <a:gd name="adj" fmla="val 1047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72415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</a:t>
            </a: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28750" y="312420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28750" y="352425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build-and-test: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28750" y="392430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runs-on: ubuntu-latest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28750" y="432435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28750" y="472440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uses: actions/checkout@v4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28750" y="512445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run: npm install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28750" y="5524500"/>
            <a:ext cx="1589341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5556"/>
              </a:lnSpc>
              <a:buNone/>
            </a:pPr>
            <a:r>
              <a:rPr lang="en-US" sz="18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run: npm test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Stratégies de déploiement automatique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95550"/>
            <a:ext cx="5168801" cy="7124700"/>
          </a:xfrm>
          <a:prstGeom prst="roundRect">
            <a:avLst>
              <a:gd name="adj" fmla="val 1474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2838450"/>
            <a:ext cx="493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0650" y="3295650"/>
            <a:ext cx="461749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Remplacement progressif des instances, sans coupure de service.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59451" y="2495550"/>
            <a:ext cx="5168950" cy="7124700"/>
          </a:xfrm>
          <a:prstGeom prst="roundRect">
            <a:avLst>
              <a:gd name="adj" fmla="val 1474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902351" y="2838450"/>
            <a:ext cx="49314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Blue-green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02351" y="3295650"/>
            <a:ext cx="461764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Deux environnements identiques, on bascule le trafic d'un coup.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71300" y="2495550"/>
            <a:ext cx="5168950" cy="7124700"/>
          </a:xfrm>
          <a:prstGeom prst="roundRect">
            <a:avLst>
              <a:gd name="adj" fmla="val 1474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12414200" y="2838450"/>
            <a:ext cx="49314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414200" y="3295650"/>
            <a:ext cx="461764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nouvelle version reçoit d'abord un petit pourcentage du trafic.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15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Bonnes pratiques GitLab CI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10515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633663"/>
            <a:ext cx="2305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cache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448050" y="2590800"/>
            <a:ext cx="62627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Garde des fichiers d'un job à l'autre, sans les reconstruire.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047750" y="38004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328988"/>
            <a:ext cx="2305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48050" y="3286125"/>
            <a:ext cx="612360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Sauvegarde les résultats à conserver : rapports, binaires.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1047750" y="449580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4024313"/>
            <a:ext cx="2305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needs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48050" y="3981450"/>
            <a:ext cx="682314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Gère les dépendances entre jobs, au-delà de l'ordre des stages.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047750" y="51911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4719638"/>
            <a:ext cx="2305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48050" y="4676775"/>
            <a:ext cx="5063907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Sélectionne le bon type de runner pour un job.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47750" y="588645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414963"/>
            <a:ext cx="2305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448050" y="5372100"/>
            <a:ext cx="513806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Définit la durée maximale d'exécution d'un job.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047750" y="65817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20" name="Text 18"/>
          <p:cNvSpPr/>
          <p:nvPr/>
        </p:nvSpPr>
        <p:spPr>
          <a:xfrm>
            <a:off x="1047750" y="6110288"/>
            <a:ext cx="230505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48050" y="6067425"/>
            <a:ext cx="5166881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Relance automatiquement un job qui a échoué.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5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3 — CI/CD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Suivre la santé de ses pipelines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43150"/>
            <a:ext cx="157162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réussite, durée d'exécution, nombre de commits : GitLab expose ces indicateurs pour repérer un pipeline qui se dégrade.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3028950"/>
            <a:ext cx="16192500" cy="6591300"/>
          </a:xfrm>
          <a:prstGeom prst="roundRect">
            <a:avLst>
              <a:gd name="adj" fmla="val 1156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  <a:effectLst>
            <a:outerShdw blurRad="38100" dist="9525" dir="54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3041005" y="3267075"/>
            <a:ext cx="12205990" cy="61149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15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28750" y="3651052"/>
            <a:ext cx="2974925" cy="428625"/>
          </a:xfrm>
          <a:prstGeom prst="roundRect">
            <a:avLst>
              <a:gd name="adj" fmla="val 50000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28775" y="3755827"/>
            <a:ext cx="2664123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— TASKFLOW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428750" y="4536877"/>
            <a:ext cx="14716125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22182"/>
              </a:lnSpc>
              <a:buNone/>
            </a:pPr>
            <a:r>
              <a:rPr lang="en-US" sz="3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pipeline de TaskFlow produit maintenant automatiquement un artefact prêt à déployer.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428750" y="6197798"/>
            <a:ext cx="169735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Prochaine étape : exécuter cet artefact de la même façon partout, avec Docker et Kubernetes.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5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4066282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FA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· 1H30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4628257"/>
            <a:ext cx="1569720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96092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Conteneurisation et orchestration : Docker → Kubernetes</a:t>
            </a:r>
            <a:endParaRPr lang="en-US" sz="5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4959459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4265325" y="857250"/>
            <a:ext cx="2974925" cy="428625"/>
          </a:xfrm>
          <a:prstGeom prst="roundRect">
            <a:avLst>
              <a:gd name="adj" fmla="val 50000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465350" y="962025"/>
            <a:ext cx="2664123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— TASKFLOW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514475"/>
            <a:ext cx="16678275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pipeline produit un build. Comment l'exécuter partout, à l'identique 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47750" y="3248025"/>
            <a:ext cx="1373505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L'API de TaskFlow tourne parfaitement sur la machine d'Alice… mais pas toujours sur celle de Bob, ni sur le serveur de production.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</a:t>
            </a:r>
            <a:endParaRPr lang="en-US" sz="15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les containers ?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5143500"/>
            <a:ext cx="4914900" cy="106680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316927" y="5486400"/>
            <a:ext cx="437654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153150" y="5443538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667500" y="5143500"/>
            <a:ext cx="4914900" cy="1066800"/>
          </a:xfrm>
          <a:prstGeom prst="roundRect">
            <a:avLst>
              <a:gd name="adj" fmla="val 7143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936677" y="5486400"/>
            <a:ext cx="437654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1772900" y="5443538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287250" y="5162550"/>
            <a:ext cx="4953000" cy="1028700"/>
          </a:xfrm>
          <a:prstGeom prst="roundRect">
            <a:avLst>
              <a:gd name="adj" fmla="val 7407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74905" y="5524500"/>
            <a:ext cx="437769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47750" y="92392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container embarque le code et tout son environnement : « ça marche sur ma machine » devient « ça marche partout ».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Image, container, registry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95550"/>
            <a:ext cx="5168801" cy="7124700"/>
          </a:xfrm>
          <a:prstGeom prst="roundRect">
            <a:avLst>
              <a:gd name="adj" fmla="val 1474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390650" y="2838450"/>
            <a:ext cx="493130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90650" y="3295650"/>
            <a:ext cx="461749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modèle figé : code, dépendances, configuration.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59451" y="2495550"/>
            <a:ext cx="5168950" cy="7124700"/>
          </a:xfrm>
          <a:prstGeom prst="roundRect">
            <a:avLst>
              <a:gd name="adj" fmla="val 1474"/>
            </a:avLst>
          </a:prstGeom>
          <a:solidFill>
            <a:srgbClr val="F8F8F8"/>
          </a:solidFill>
          <a:ln/>
        </p:spPr>
      </p:sp>
      <p:sp>
        <p:nvSpPr>
          <p:cNvPr id="8" name="Text 6"/>
          <p:cNvSpPr/>
          <p:nvPr/>
        </p:nvSpPr>
        <p:spPr>
          <a:xfrm>
            <a:off x="6902351" y="2838450"/>
            <a:ext cx="49314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902351" y="3295650"/>
            <a:ext cx="461764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instance en cours d'exécution de cette image.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071300" y="2495550"/>
            <a:ext cx="5168950" cy="7124700"/>
          </a:xfrm>
          <a:prstGeom prst="roundRect">
            <a:avLst>
              <a:gd name="adj" fmla="val 1474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12414200" y="2838450"/>
            <a:ext cx="49314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2414200" y="3295650"/>
            <a:ext cx="4617644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L'entrepôt où les images sont stockées et partagées.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15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Dockerfile : anatomie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343150"/>
            <a:ext cx="16192500" cy="7277100"/>
          </a:xfrm>
          <a:prstGeom prst="roundRect">
            <a:avLst>
              <a:gd name="adj" fmla="val 1047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724150"/>
            <a:ext cx="15893415" cy="49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333"/>
              </a:lnSpc>
              <a:buNone/>
            </a:pPr>
            <a:r>
              <a:rPr lang="en-US" sz="19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node:20-alpine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28750" y="3182243"/>
            <a:ext cx="15893415" cy="49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333"/>
              </a:lnSpc>
              <a:buNone/>
            </a:pPr>
            <a:r>
              <a:rPr lang="en-US" sz="19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WORKDIR </a:t>
            </a:r>
            <a:r>
              <a:rPr lang="en-US" sz="1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/app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28750" y="3640336"/>
            <a:ext cx="15893415" cy="49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333"/>
              </a:lnSpc>
              <a:buNone/>
            </a:pPr>
            <a:r>
              <a:rPr lang="en-US" sz="19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</a:t>
            </a:r>
            <a:r>
              <a:rPr lang="en-US" sz="1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package*.json ./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28750" y="4098429"/>
            <a:ext cx="15893415" cy="49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333"/>
              </a:lnSpc>
              <a:buNone/>
            </a:pPr>
            <a:r>
              <a:rPr lang="en-US" sz="19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</a:t>
            </a:r>
            <a:r>
              <a:rPr lang="en-US" sz="1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 --production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28750" y="4556522"/>
            <a:ext cx="15893415" cy="49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333"/>
              </a:lnSpc>
              <a:buNone/>
            </a:pPr>
            <a:r>
              <a:rPr lang="en-US" sz="19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</a:t>
            </a:r>
            <a:r>
              <a:rPr lang="en-US" sz="1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428750" y="5014615"/>
            <a:ext cx="15893415" cy="4961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0333"/>
              </a:lnSpc>
              <a:buNone/>
            </a:pPr>
            <a:r>
              <a:rPr lang="en-US" sz="19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</a:t>
            </a:r>
            <a:r>
              <a:rPr lang="en-US" sz="19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["node", "server.js"]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</a:t>
            </a:r>
            <a:endParaRPr lang="en-US" sz="15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Construire et lancer une image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19350"/>
            <a:ext cx="16192500" cy="7200900"/>
          </a:xfrm>
          <a:prstGeom prst="roundRect">
            <a:avLst>
              <a:gd name="adj" fmla="val 1058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/>
          <p:nvPr/>
        </p:nvSpPr>
        <p:spPr>
          <a:xfrm>
            <a:off x="1504950" y="2876550"/>
            <a:ext cx="157364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645"/>
              </a:lnSpc>
              <a:buNone/>
            </a:pPr>
            <a:r>
              <a:rPr lang="en-US" sz="2100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2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-t taskflow-api 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504950" y="3409950"/>
            <a:ext cx="157364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645"/>
              </a:lnSpc>
              <a:buNone/>
            </a:pPr>
            <a:r>
              <a:rPr lang="en-US" sz="2100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2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-p 3000:3000 taskflow-api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04950" y="3943350"/>
            <a:ext cx="157364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80645"/>
              </a:lnSpc>
              <a:buNone/>
            </a:pPr>
            <a:r>
              <a:rPr lang="en-US" sz="2100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210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push registry.taskflow.io/taskflow-api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5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l'optimisation d'image compte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5685681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Vitesse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047750" y="3124200"/>
            <a:ext cx="5323865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image légère se télécharge et démarre plus vite — crucial pour le scaling.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6559451" y="2495550"/>
            <a:ext cx="568584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Sécurité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559451" y="3124200"/>
            <a:ext cx="532401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Moins de paquets installés, moins de surface d'attaque.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2071300" y="2495550"/>
            <a:ext cx="568584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Coût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2071300" y="3124200"/>
            <a:ext cx="5324018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Stockage et bande passante du registry facturés au volume.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5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Bonnes pratiques d'optimisation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23850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647950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962150" y="2681288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Multi-stage builds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5581650" y="2662238"/>
            <a:ext cx="128244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compile dans une étape, on ne copie que le résultat dans l'image finale.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47750" y="40671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9" name="Text 7"/>
          <p:cNvSpPr/>
          <p:nvPr/>
        </p:nvSpPr>
        <p:spPr>
          <a:xfrm>
            <a:off x="1047750" y="3476625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962150" y="3509963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de base légères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5581650" y="3490913"/>
            <a:ext cx="128244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alpine </a:t>
            </a: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 </a:t>
            </a:r>
            <a:r>
              <a:rPr lang="en-US" sz="1800" dirty="0">
                <a:solidFill>
                  <a:srgbClr val="5E5E5E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distroless </a:t>
            </a: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plutôt qu'une image système complète.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7750" y="4895850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4305300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962150" y="4338638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.dockerignore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5581650" y="4319588"/>
            <a:ext cx="128244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Exclure </a:t>
            </a:r>
            <a:r>
              <a:rPr lang="en-US" sz="1800" dirty="0">
                <a:solidFill>
                  <a:srgbClr val="5E5E5E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node_modules/</a:t>
            </a: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800" dirty="0">
                <a:solidFill>
                  <a:srgbClr val="5E5E5E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 </a:t>
            </a: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contexte de build.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47750" y="57245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133975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962150" y="5167313"/>
            <a:ext cx="35623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des layers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5581650" y="5148263"/>
            <a:ext cx="1282446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Ordonner les instructions du moins au plus changeant pour réutiliser le cache.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Avant / après : un Dockerfile optimisé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43150"/>
            <a:ext cx="8696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Naïf — environ 1,1 Go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047750" y="2762250"/>
            <a:ext cx="7905750" cy="6858000"/>
          </a:xfrm>
          <a:prstGeom prst="roundRect">
            <a:avLst>
              <a:gd name="adj" fmla="val 1111"/>
            </a:avLst>
          </a:prstGeom>
          <a:solidFill>
            <a:srgbClr val="0D0D0D"/>
          </a:solidFill>
          <a:ln/>
        </p:spPr>
      </p:sp>
      <p:sp>
        <p:nvSpPr>
          <p:cNvPr id="6" name="Text 4"/>
          <p:cNvSpPr/>
          <p:nvPr/>
        </p:nvSpPr>
        <p:spPr>
          <a:xfrm>
            <a:off x="1314450" y="3028950"/>
            <a:ext cx="759352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8400"/>
              </a:lnSpc>
              <a:buNone/>
            </a:pPr>
            <a:r>
              <a:rPr lang="en-US" sz="16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node:20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14450" y="3406080"/>
            <a:ext cx="759352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8400"/>
              </a:lnSpc>
              <a:buNone/>
            </a:pPr>
            <a:r>
              <a:rPr lang="en-US" sz="16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</a:t>
            </a: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14450" y="3783211"/>
            <a:ext cx="759352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8400"/>
              </a:lnSpc>
              <a:buNone/>
            </a:pPr>
            <a:r>
              <a:rPr lang="en-US" sz="16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</a:t>
            </a: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14450" y="4160341"/>
            <a:ext cx="759352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8400"/>
              </a:lnSpc>
              <a:buNone/>
            </a:pPr>
            <a:r>
              <a:rPr lang="en-US" sz="16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</a:t>
            </a: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["node", "server.js"]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334500" y="2343150"/>
            <a:ext cx="86963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Optimisé (multi-stage) — environ 120 Mo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34500" y="2762250"/>
            <a:ext cx="7905750" cy="6858000"/>
          </a:xfrm>
          <a:prstGeom prst="roundRect">
            <a:avLst>
              <a:gd name="adj" fmla="val 1111"/>
            </a:avLst>
          </a:prstGeom>
          <a:solidFill>
            <a:srgbClr val="0D0D0D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0" y="3028950"/>
            <a:ext cx="759352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8400"/>
              </a:lnSpc>
              <a:buNone/>
            </a:pPr>
            <a:r>
              <a:rPr lang="en-US" sz="16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node:20 </a:t>
            </a:r>
            <a:r>
              <a:rPr lang="en-US" sz="16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build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601200" y="3406080"/>
            <a:ext cx="759352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8400"/>
              </a:lnSpc>
              <a:buNone/>
            </a:pPr>
            <a:r>
              <a:rPr lang="en-US" sz="16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</a:t>
            </a: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.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601200" y="3783211"/>
            <a:ext cx="759352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8400"/>
              </a:lnSpc>
              <a:buNone/>
            </a:pPr>
            <a:r>
              <a:rPr lang="en-US" sz="16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</a:t>
            </a: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 &amp;&amp; npm run build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601200" y="4160341"/>
            <a:ext cx="759352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8400"/>
              </a:lnSpc>
              <a:buNone/>
            </a:pPr>
            <a:r>
              <a:rPr lang="en-US" sz="16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node:20-alpine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601200" y="4537472"/>
            <a:ext cx="759352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8400"/>
              </a:lnSpc>
              <a:buNone/>
            </a:pPr>
            <a:r>
              <a:rPr lang="en-US" sz="16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</a:t>
            </a: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--from=build /app/dist ./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601200" y="4914602"/>
            <a:ext cx="7593521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8400"/>
              </a:lnSpc>
              <a:buNone/>
            </a:pPr>
            <a:r>
              <a:rPr lang="en-US" sz="1650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</a:t>
            </a: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["node", "server.js"]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</a:t>
            </a:r>
            <a:endParaRPr lang="en-US" sz="15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 J'en ai 50, maintenant. »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1373505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TaskFlow devient populaire. Il faut désormais plusieurs containers, sur plusieurs machines, qui doivent redémarrer seuls en cas de panne et s'adapter au trafic.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47750" y="3897511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 redémarre un container qui plante ? Qui répartit le trafic entre eux ? Qui ajoute des instances quand il y a plus de demande ?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4478536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Il faut un orchestrateur : Kubernetes.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Kubernetes ?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1373505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orchestre des containers : il décide où les faire tourner, les surveille, les remplace s'ils tombent, et les fait évoluer en nombre selon la charge.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3821311"/>
            <a:ext cx="7850237" cy="428625"/>
          </a:xfrm>
          <a:prstGeom prst="roundRect">
            <a:avLst>
              <a:gd name="adj" fmla="val 50000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7775" y="3926086"/>
            <a:ext cx="7685694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L'OBJECTIF : RESTER EN 1H30 SUR L'INTUITION, PAS L'ADMINISTRATION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5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et node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83086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3048000"/>
            <a:ext cx="830865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L'ensemble des machines qui forment l'environnement Kubernetes.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34475" y="2495550"/>
            <a:ext cx="19050" cy="7124700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7" name="Text 5"/>
          <p:cNvSpPr/>
          <p:nvPr/>
        </p:nvSpPr>
        <p:spPr>
          <a:xfrm>
            <a:off x="9686925" y="2495550"/>
            <a:ext cx="83086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86925" y="3048000"/>
            <a:ext cx="830865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machine individuelle du cluster, qui exécute les containers.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</a:t>
            </a:r>
            <a:endParaRPr lang="en-US"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manifest : décrire l'état voulu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43150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ne dit jamais à Kubernetes quoi faire étape par étape. On décrit l'état voulu dans un fichier YAML — le manifest — et Kubernetes travaille en permanence à faire correspondre l'état réel à cette description.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1047750" y="3467100"/>
            <a:ext cx="8853041" cy="6153150"/>
          </a:xfrm>
          <a:prstGeom prst="roundRect">
            <a:avLst>
              <a:gd name="adj" fmla="val 1238"/>
            </a:avLst>
          </a:prstGeom>
          <a:solidFill>
            <a:srgbClr val="0D0D0D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3810000"/>
            <a:ext cx="8412258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</a:t>
            </a: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apps/v1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390650" y="4215259"/>
            <a:ext cx="8412258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</a:t>
            </a: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390650" y="4620518"/>
            <a:ext cx="8412258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390650" y="5025777"/>
            <a:ext cx="8412258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taskflow-api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390650" y="5431036"/>
            <a:ext cx="8412258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390650" y="5836295"/>
            <a:ext cx="8412258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replicas: 3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390650" y="6241554"/>
            <a:ext cx="8412258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template: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390650" y="6646813"/>
            <a:ext cx="8412258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390650" y="7052072"/>
            <a:ext cx="8412258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containers: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390650" y="7457331"/>
            <a:ext cx="8412258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api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390650" y="7862590"/>
            <a:ext cx="8412258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image: taskflow-api:1.4.0</a:t>
            </a:r>
            <a:endParaRPr lang="en-US" sz="1725" dirty="0"/>
          </a:p>
        </p:txBody>
      </p:sp>
      <p:sp>
        <p:nvSpPr>
          <p:cNvPr id="17" name="Shape 15"/>
          <p:cNvSpPr/>
          <p:nvPr/>
        </p:nvSpPr>
        <p:spPr>
          <a:xfrm>
            <a:off x="10434191" y="4371975"/>
            <a:ext cx="6806059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8" name="Text 16"/>
          <p:cNvSpPr/>
          <p:nvPr/>
        </p:nvSpPr>
        <p:spPr>
          <a:xfrm>
            <a:off x="10434191" y="3619500"/>
            <a:ext cx="7486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434191" y="3914775"/>
            <a:ext cx="74866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version de l'API Kubernetes utilisée pour cette ressource.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0434191" y="5286375"/>
            <a:ext cx="6806059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21" name="Text 19"/>
          <p:cNvSpPr/>
          <p:nvPr/>
        </p:nvSpPr>
        <p:spPr>
          <a:xfrm>
            <a:off x="10434191" y="4533900"/>
            <a:ext cx="7486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0434191" y="4829175"/>
            <a:ext cx="74866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type de ressource : Deployment, Service, Pod...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0434191" y="6200775"/>
            <a:ext cx="6806059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24" name="Text 22"/>
          <p:cNvSpPr/>
          <p:nvPr/>
        </p:nvSpPr>
        <p:spPr>
          <a:xfrm>
            <a:off x="10434191" y="5448300"/>
            <a:ext cx="7486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10434191" y="5743575"/>
            <a:ext cx="74866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identité : nom, namespace, labels.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0434191" y="7115175"/>
            <a:ext cx="6806059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27" name="Text 25"/>
          <p:cNvSpPr/>
          <p:nvPr/>
        </p:nvSpPr>
        <p:spPr>
          <a:xfrm>
            <a:off x="10434191" y="6362700"/>
            <a:ext cx="7486665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0434191" y="6657975"/>
            <a:ext cx="748666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L'état désiré : réplicas, image, configuration.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</a:t>
            </a:r>
            <a:endParaRPr lang="en-US" sz="15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Pod : la plus petite unité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1373505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Pod encapsule un ou plusieurs containers qui doivent toujours tourner ensemble, sur la même machine, avec le même réseau. C'est l'unité que Kubernetes déploie et surveille.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5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cycle de vie d'un Pod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19350"/>
            <a:ext cx="3733800" cy="828675"/>
          </a:xfrm>
          <a:prstGeom prst="roundRect">
            <a:avLst>
              <a:gd name="adj" fmla="val 9195"/>
            </a:avLst>
          </a:prstGeom>
          <a:solidFill>
            <a:srgbClr val="F8F8F8"/>
          </a:solidFill>
          <a:ln/>
        </p:spPr>
      </p:sp>
      <p:sp>
        <p:nvSpPr>
          <p:cNvPr id="5" name="Text 3"/>
          <p:cNvSpPr/>
          <p:nvPr/>
        </p:nvSpPr>
        <p:spPr>
          <a:xfrm>
            <a:off x="1239393" y="2667000"/>
            <a:ext cx="33505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933950" y="2667000"/>
            <a:ext cx="304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14950" y="2433638"/>
            <a:ext cx="3771900" cy="800100"/>
          </a:xfrm>
          <a:prstGeom prst="roundRect">
            <a:avLst>
              <a:gd name="adj" fmla="val 9524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5072" y="2700338"/>
            <a:ext cx="33516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239250" y="2667000"/>
            <a:ext cx="30480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20250" y="2419350"/>
            <a:ext cx="3733800" cy="828675"/>
          </a:xfrm>
          <a:prstGeom prst="roundRect">
            <a:avLst>
              <a:gd name="adj" fmla="val 9195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9811893" y="2667000"/>
            <a:ext cx="33505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Succeeded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3506450" y="2419350"/>
            <a:ext cx="3733800" cy="828675"/>
          </a:xfrm>
          <a:prstGeom prst="roundRect">
            <a:avLst>
              <a:gd name="adj" fmla="val 9195"/>
            </a:avLst>
          </a:prstGeom>
          <a:solidFill>
            <a:srgbClr val="F8F8F8"/>
          </a:solidFill>
          <a:ln/>
        </p:spPr>
      </p:sp>
      <p:sp>
        <p:nvSpPr>
          <p:cNvPr id="13" name="Text 11"/>
          <p:cNvSpPr/>
          <p:nvPr/>
        </p:nvSpPr>
        <p:spPr>
          <a:xfrm>
            <a:off x="13698093" y="2667000"/>
            <a:ext cx="3350514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47750" y="3705225"/>
            <a:ext cx="7829550" cy="5915025"/>
          </a:xfrm>
          <a:prstGeom prst="roundRect">
            <a:avLst>
              <a:gd name="adj" fmla="val 1288"/>
            </a:avLst>
          </a:prstGeom>
          <a:solidFill>
            <a:srgbClr val="F8F8F8"/>
          </a:solidFill>
          <a:ln/>
        </p:spPr>
      </p:sp>
      <p:sp>
        <p:nvSpPr>
          <p:cNvPr id="15" name="Text 13"/>
          <p:cNvSpPr/>
          <p:nvPr/>
        </p:nvSpPr>
        <p:spPr>
          <a:xfrm>
            <a:off x="1390650" y="4048125"/>
            <a:ext cx="78581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Liveness probe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90650" y="4505325"/>
            <a:ext cx="735806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 que le container est toujours vivant. S'il ne répond plus, Kubernetes le redémarre.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10700" y="3705225"/>
            <a:ext cx="7829550" cy="5915025"/>
          </a:xfrm>
          <a:prstGeom prst="roundRect">
            <a:avLst>
              <a:gd name="adj" fmla="val 1288"/>
            </a:avLst>
          </a:prstGeom>
          <a:solidFill>
            <a:srgbClr val="F8F8F8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600" y="4048125"/>
            <a:ext cx="78581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probe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753600" y="4505325"/>
            <a:ext cx="735806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Vérifie que le container est prêt à recevoir du trafic. Sinon, le Service ne lui envoie rien.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</a:t>
            </a:r>
            <a:endParaRPr lang="en-US" sz="15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: gérer les réplicas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1373505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Deployment décrit combien de copies (réplicas) d'un Pod doivent tourner, et gère les mises à jour progressives sans interruption de service.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47750" y="5411093"/>
            <a:ext cx="16192500" cy="1295400"/>
          </a:xfrm>
          <a:prstGeom prst="roundRect">
            <a:avLst>
              <a:gd name="adj" fmla="val 8824"/>
            </a:avLst>
          </a:prstGeom>
          <a:ln w="19050">
            <a:solidFill>
              <a:srgbClr val="C4C4C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333500" y="5258693"/>
            <a:ext cx="2420243" cy="2190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447800" y="5258693"/>
            <a:ext cx="2433667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· taskflow-api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371600" y="5696843"/>
            <a:ext cx="5054501" cy="723900"/>
          </a:xfrm>
          <a:prstGeom prst="roundRect">
            <a:avLst>
              <a:gd name="adj" fmla="val 10526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24382" y="5925443"/>
            <a:ext cx="47489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v1.4.0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616601" y="5696843"/>
            <a:ext cx="5054650" cy="723900"/>
          </a:xfrm>
          <a:prstGeom prst="roundRect">
            <a:avLst>
              <a:gd name="adj" fmla="val 10526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9381" y="5925443"/>
            <a:ext cx="4749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v1.4.0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861750" y="5696843"/>
            <a:ext cx="5054650" cy="723900"/>
          </a:xfrm>
          <a:prstGeom prst="roundRect">
            <a:avLst>
              <a:gd name="adj" fmla="val 10526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014531" y="5925443"/>
            <a:ext cx="474908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v1.4.0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47750" y="7125593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Mise à jour vers v1.5.0 — un Pod remplacé à la fois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1047750" y="7525643"/>
            <a:ext cx="636091" cy="504825"/>
          </a:xfrm>
          <a:prstGeom prst="roundRect">
            <a:avLst>
              <a:gd name="adj" fmla="val 11321"/>
            </a:avLst>
          </a:prstGeom>
          <a:solidFill>
            <a:srgbClr val="F0F0F0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" y="7658993"/>
            <a:ext cx="36939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v1.4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760041" y="7525643"/>
            <a:ext cx="636091" cy="504825"/>
          </a:xfrm>
          <a:prstGeom prst="roundRect">
            <a:avLst>
              <a:gd name="adj" fmla="val 11321"/>
            </a:avLst>
          </a:prstGeom>
          <a:solidFill>
            <a:srgbClr val="F0F0F0"/>
          </a:solidFill>
          <a:ln/>
        </p:spPr>
      </p:sp>
      <p:sp>
        <p:nvSpPr>
          <p:cNvPr id="18" name="Text 16"/>
          <p:cNvSpPr/>
          <p:nvPr/>
        </p:nvSpPr>
        <p:spPr>
          <a:xfrm>
            <a:off x="1931491" y="7658993"/>
            <a:ext cx="36939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v1.4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2472333" y="7525643"/>
            <a:ext cx="636091" cy="504825"/>
          </a:xfrm>
          <a:prstGeom prst="roundRect">
            <a:avLst>
              <a:gd name="adj" fmla="val 11321"/>
            </a:avLst>
          </a:prstGeom>
          <a:solidFill>
            <a:srgbClr val="F0F0F0"/>
          </a:solidFill>
          <a:ln/>
        </p:spPr>
      </p:sp>
      <p:sp>
        <p:nvSpPr>
          <p:cNvPr id="20" name="Text 18"/>
          <p:cNvSpPr/>
          <p:nvPr/>
        </p:nvSpPr>
        <p:spPr>
          <a:xfrm>
            <a:off x="2643783" y="7658993"/>
            <a:ext cx="36939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60824" y="7625655"/>
            <a:ext cx="285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3622774" y="7525643"/>
            <a:ext cx="686098" cy="504825"/>
          </a:xfrm>
          <a:prstGeom prst="roundRect">
            <a:avLst>
              <a:gd name="adj" fmla="val 11321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03749" y="7668518"/>
            <a:ext cx="4003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v1.5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385072" y="7525643"/>
            <a:ext cx="636091" cy="504825"/>
          </a:xfrm>
          <a:prstGeom prst="roundRect">
            <a:avLst>
              <a:gd name="adj" fmla="val 11321"/>
            </a:avLst>
          </a:prstGeom>
          <a:solidFill>
            <a:srgbClr val="F0F0F0"/>
          </a:solidFill>
          <a:ln/>
        </p:spPr>
      </p:sp>
      <p:sp>
        <p:nvSpPr>
          <p:cNvPr id="25" name="Text 23"/>
          <p:cNvSpPr/>
          <p:nvPr/>
        </p:nvSpPr>
        <p:spPr>
          <a:xfrm>
            <a:off x="4556522" y="7658993"/>
            <a:ext cx="36939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v1.4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5097363" y="7525643"/>
            <a:ext cx="636091" cy="504825"/>
          </a:xfrm>
          <a:prstGeom prst="roundRect">
            <a:avLst>
              <a:gd name="adj" fmla="val 11321"/>
            </a:avLst>
          </a:prstGeom>
          <a:solidFill>
            <a:srgbClr val="F0F0F0"/>
          </a:solidFill>
          <a:ln/>
        </p:spPr>
      </p:sp>
      <p:sp>
        <p:nvSpPr>
          <p:cNvPr id="27" name="Text 25"/>
          <p:cNvSpPr/>
          <p:nvPr/>
        </p:nvSpPr>
        <p:spPr>
          <a:xfrm>
            <a:off x="5268813" y="7658993"/>
            <a:ext cx="36939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885855" y="7625655"/>
            <a:ext cx="285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6247805" y="7525643"/>
            <a:ext cx="686098" cy="504825"/>
          </a:xfrm>
          <a:prstGeom prst="roundRect">
            <a:avLst>
              <a:gd name="adj" fmla="val 11321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28780" y="7668518"/>
            <a:ext cx="4003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v1.5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7010102" y="7525643"/>
            <a:ext cx="686098" cy="504825"/>
          </a:xfrm>
          <a:prstGeom prst="roundRect">
            <a:avLst>
              <a:gd name="adj" fmla="val 11321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91077" y="7668518"/>
            <a:ext cx="40034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v1.5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772400" y="7525643"/>
            <a:ext cx="636091" cy="504825"/>
          </a:xfrm>
          <a:prstGeom prst="roundRect">
            <a:avLst>
              <a:gd name="adj" fmla="val 11321"/>
            </a:avLst>
          </a:prstGeom>
          <a:solidFill>
            <a:srgbClr val="F0F0F0"/>
          </a:solidFill>
          <a:ln/>
        </p:spPr>
      </p:sp>
      <p:sp>
        <p:nvSpPr>
          <p:cNvPr id="34" name="Text 32"/>
          <p:cNvSpPr/>
          <p:nvPr/>
        </p:nvSpPr>
        <p:spPr>
          <a:xfrm>
            <a:off x="7943850" y="7658993"/>
            <a:ext cx="369391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v1.4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8560891" y="7625655"/>
            <a:ext cx="285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8922841" y="7535168"/>
            <a:ext cx="686098" cy="485775"/>
          </a:xfrm>
          <a:prstGeom prst="roundRect">
            <a:avLst>
              <a:gd name="adj" fmla="val 11765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03816" y="7678043"/>
            <a:ext cx="4003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v1.5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9685139" y="7535168"/>
            <a:ext cx="686098" cy="485775"/>
          </a:xfrm>
          <a:prstGeom prst="roundRect">
            <a:avLst>
              <a:gd name="adj" fmla="val 11765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866114" y="7678043"/>
            <a:ext cx="4003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v1.5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10447437" y="7535168"/>
            <a:ext cx="686098" cy="485775"/>
          </a:xfrm>
          <a:prstGeom prst="roundRect">
            <a:avLst>
              <a:gd name="adj" fmla="val 11765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28412" y="7678043"/>
            <a:ext cx="4003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v1.5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15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: exposer les Pods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1373505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Pods vont et viennent, avec des adresses changeantes. Un Service leur donne une adresse stable et répartit le trafic entre les réplicas disponibles.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15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Router le trafic vers l'application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0384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605088"/>
            <a:ext cx="2724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ClusterIP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3829050" y="2571750"/>
            <a:ext cx="78327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Adresse interne au cluster seulement — pour la communication entre services.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1047750" y="36671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233738"/>
            <a:ext cx="2724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NodePort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3829050" y="3200400"/>
            <a:ext cx="769425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Ouvre un port fixe sur chaque node — simple, mais peu utilisé en production.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047750" y="42957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3862387"/>
            <a:ext cx="27241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25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LoadBalancer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3829050" y="3829050"/>
            <a:ext cx="625392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Provisionne une adresse IP publique chez le fournisseur cloud.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47750" y="6400800"/>
            <a:ext cx="3509963" cy="866775"/>
          </a:xfrm>
          <a:prstGeom prst="roundRect">
            <a:avLst>
              <a:gd name="adj" fmla="val 8791"/>
            </a:avLst>
          </a:prstGeom>
          <a:solidFill>
            <a:srgbClr val="F8F8F8"/>
          </a:solidFill>
          <a:ln/>
        </p:spPr>
      </p:sp>
      <p:sp>
        <p:nvSpPr>
          <p:cNvPr id="14" name="Text 12"/>
          <p:cNvSpPr/>
          <p:nvPr/>
        </p:nvSpPr>
        <p:spPr>
          <a:xfrm>
            <a:off x="1261801" y="6667500"/>
            <a:ext cx="30818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48213" y="6600825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5262563" y="6276975"/>
            <a:ext cx="3548063" cy="1114425"/>
          </a:xfrm>
          <a:prstGeom prst="roundRect">
            <a:avLst>
              <a:gd name="adj" fmla="val 6838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95092" y="6562725"/>
            <a:ext cx="3083004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102E"/>
                </a:solidFill>
                <a:highlight>
                  <a:srgbClr val="FFF5F6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Ingress </a:t>
            </a:r>
            <a:r>
              <a:rPr lang="en-US" sz="13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taskflow.io/api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001125" y="6600825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515475" y="6400800"/>
            <a:ext cx="3509963" cy="866775"/>
          </a:xfrm>
          <a:prstGeom prst="roundRect">
            <a:avLst>
              <a:gd name="adj" fmla="val 8791"/>
            </a:avLst>
          </a:prstGeom>
          <a:solidFill>
            <a:srgbClr val="F8F8F8"/>
          </a:solidFill>
          <a:ln/>
        </p:spPr>
      </p:sp>
      <p:sp>
        <p:nvSpPr>
          <p:cNvPr id="20" name="Text 18"/>
          <p:cNvSpPr/>
          <p:nvPr/>
        </p:nvSpPr>
        <p:spPr>
          <a:xfrm>
            <a:off x="9729526" y="6667500"/>
            <a:ext cx="30818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215938" y="6600825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13730288" y="6400800"/>
            <a:ext cx="3509963" cy="866775"/>
          </a:xfrm>
          <a:prstGeom prst="roundRect">
            <a:avLst>
              <a:gd name="adj" fmla="val 8791"/>
            </a:avLst>
          </a:prstGeom>
          <a:solidFill>
            <a:srgbClr val="F8F8F8"/>
          </a:solidFill>
          <a:ln/>
        </p:spPr>
      </p:sp>
      <p:sp>
        <p:nvSpPr>
          <p:cNvPr id="23" name="Text 21"/>
          <p:cNvSpPr/>
          <p:nvPr/>
        </p:nvSpPr>
        <p:spPr>
          <a:xfrm>
            <a:off x="13944338" y="6667500"/>
            <a:ext cx="3081861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7750" y="9286875"/>
            <a:ext cx="17811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L'Ingress route selon le nom de domaine ou le chemin d'URL, vers le bon Service — un seul point d'entrée pour plusieurs applications.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5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Namespace, ConfigMap et Secret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83086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3048000"/>
            <a:ext cx="77799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Isole des groupes de ressources — un par environnement, par exemple.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9134475" y="2495550"/>
            <a:ext cx="19050" cy="7124700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7" name="Text 5"/>
          <p:cNvSpPr/>
          <p:nvPr/>
        </p:nvSpPr>
        <p:spPr>
          <a:xfrm>
            <a:off x="9686925" y="2495550"/>
            <a:ext cx="83086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/ Secret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86925" y="3048000"/>
            <a:ext cx="77799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Séparent la configuration (ConfigMap) et les données sensibles (Secret) du code de l'application.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</a:t>
            </a:r>
            <a:endParaRPr lang="en-US" sz="15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base, des overlays par environnement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43150"/>
            <a:ext cx="147161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TaskFlow tourne en développement, staging et production avec des besoins différents (réplicas, ressources). Kustomize évite de dupliquer les manifests pour chaque environnement.</a:t>
            </a:r>
            <a:endParaRPr lang="en-US" sz="2025" dirty="0"/>
          </a:p>
        </p:txBody>
      </p:sp>
      <p:sp>
        <p:nvSpPr>
          <p:cNvPr id="5" name="Shape 3"/>
          <p:cNvSpPr/>
          <p:nvPr/>
        </p:nvSpPr>
        <p:spPr>
          <a:xfrm>
            <a:off x="1047750" y="3467100"/>
            <a:ext cx="8172450" cy="6153150"/>
          </a:xfrm>
          <a:prstGeom prst="roundRect">
            <a:avLst>
              <a:gd name="adj" fmla="val 1238"/>
            </a:avLst>
          </a:prstGeom>
          <a:solidFill>
            <a:srgbClr val="0D0D0D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3810000"/>
            <a:ext cx="7711250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800"/>
              </a:lnSpc>
              <a:buNone/>
            </a:pPr>
            <a:r>
              <a:rPr lang="en-US" sz="16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base/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390650" y="4197548"/>
            <a:ext cx="7711250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800"/>
              </a:lnSpc>
              <a:buNone/>
            </a:pP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deployment.yaml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390650" y="4585097"/>
            <a:ext cx="7711250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800"/>
              </a:lnSpc>
              <a:buNone/>
            </a:pP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service.yaml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390650" y="4972645"/>
            <a:ext cx="7711250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800"/>
              </a:lnSpc>
              <a:buNone/>
            </a:pP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kustomization.yaml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390650" y="5360194"/>
            <a:ext cx="7711250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800"/>
              </a:lnSpc>
              <a:buNone/>
            </a:pPr>
            <a:r>
              <a:rPr lang="en-US" sz="1650" dirty="0">
                <a:solidFill>
                  <a:srgbClr val="7A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overlays/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390650" y="5747742"/>
            <a:ext cx="7711250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800"/>
              </a:lnSpc>
              <a:buNone/>
            </a:pP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dev/kustomization.yaml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390650" y="6135291"/>
            <a:ext cx="7711250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800"/>
              </a:lnSpc>
              <a:buNone/>
            </a:pP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staging/kustomization.yaml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390650" y="6522839"/>
            <a:ext cx="7711250" cy="4256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2800"/>
              </a:lnSpc>
              <a:buNone/>
            </a:pPr>
            <a:r>
              <a:rPr lang="en-US" sz="1650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prod/kustomization.yaml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9753600" y="4400550"/>
            <a:ext cx="748665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5" name="Text 13"/>
          <p:cNvSpPr/>
          <p:nvPr/>
        </p:nvSpPr>
        <p:spPr>
          <a:xfrm>
            <a:off x="9753600" y="3619500"/>
            <a:ext cx="82353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jamais dupliquer les manifests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753600" y="3943350"/>
            <a:ext cx="82353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base reste unique ; chaque overlay ne contient que ses différences.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9753600" y="5343525"/>
            <a:ext cx="748665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8" name="Text 16"/>
          <p:cNvSpPr/>
          <p:nvPr/>
        </p:nvSpPr>
        <p:spPr>
          <a:xfrm>
            <a:off x="9753600" y="4562475"/>
            <a:ext cx="82353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Patcher, pas réécrire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753600" y="4886325"/>
            <a:ext cx="82353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overlay ajuste replicas, ressources ou variables — jamais toute la ressource.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9753600" y="6286500"/>
            <a:ext cx="748665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21" name="Text 19"/>
          <p:cNvSpPr/>
          <p:nvPr/>
        </p:nvSpPr>
        <p:spPr>
          <a:xfrm>
            <a:off x="9753600" y="5505450"/>
            <a:ext cx="823531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overlay par environnement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753600" y="5829300"/>
            <a:ext cx="823531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dev, staging, prod — chacun avec son propre nombre de réplicas et ses ressources.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5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et rolling update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495550"/>
            <a:ext cx="83086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047750" y="3048000"/>
            <a:ext cx="77799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Ajouter ou retirer des réplicas selon la charge, manuellement ou automatiquement.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9134475" y="2495550"/>
            <a:ext cx="19050" cy="7124700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7" name="Text 5"/>
          <p:cNvSpPr/>
          <p:nvPr/>
        </p:nvSpPr>
        <p:spPr>
          <a:xfrm>
            <a:off x="9686925" y="2495550"/>
            <a:ext cx="8308658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update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686925" y="3048000"/>
            <a:ext cx="77799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Remplacer les anciens Pods par la nouvelle version, un par un, sans coupure.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</a:t>
            </a:r>
            <a:endParaRPr lang="en-US" sz="15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Scalabilité automatique : le HPA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047750" y="2343150"/>
            <a:ext cx="14716125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</a:t>
            </a:r>
            <a:r>
              <a:rPr lang="en-US" sz="2100" b="1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 Pod Autoscaler </a:t>
            </a:r>
            <a:r>
              <a:rPr lang="en-US" sz="2100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 une métrique (le plus souvent le CPU) et ajuste automatiquement le nombre de réplicas entre un minimum et un maximum.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047750" y="3486150"/>
            <a:ext cx="8172450" cy="6134100"/>
          </a:xfrm>
          <a:prstGeom prst="roundRect">
            <a:avLst>
              <a:gd name="adj" fmla="val 1242"/>
            </a:avLst>
          </a:prstGeom>
          <a:solidFill>
            <a:srgbClr val="0D0D0D"/>
          </a:solidFill>
          <a:ln/>
        </p:spPr>
      </p:sp>
      <p:sp>
        <p:nvSpPr>
          <p:cNvPr id="6" name="Text 4"/>
          <p:cNvSpPr/>
          <p:nvPr/>
        </p:nvSpPr>
        <p:spPr>
          <a:xfrm>
            <a:off x="1390650" y="3829050"/>
            <a:ext cx="77112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</a:t>
            </a: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HorizontalPodAutoscaler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390650" y="4234309"/>
            <a:ext cx="77112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390650" y="4639568"/>
            <a:ext cx="77112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minReplicas: 3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390650" y="5044827"/>
            <a:ext cx="77112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maxReplicas: 10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390650" y="5450086"/>
            <a:ext cx="77112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metrics: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390650" y="5855345"/>
            <a:ext cx="77112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type: Resource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390650" y="6260604"/>
            <a:ext cx="77112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resource: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390650" y="6665863"/>
            <a:ext cx="77112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cpu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390650" y="7071122"/>
            <a:ext cx="77112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target: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390650" y="7476381"/>
            <a:ext cx="7711250" cy="4433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63654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averageUtilization: 70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9753600" y="5724525"/>
            <a:ext cx="3390900" cy="723900"/>
          </a:xfrm>
          <a:prstGeom prst="roundRect">
            <a:avLst>
              <a:gd name="adj" fmla="val 10526"/>
            </a:avLst>
          </a:prstGeom>
          <a:solidFill>
            <a:srgbClr val="F8F8F8"/>
          </a:solidFill>
          <a:ln/>
        </p:spPr>
      </p:sp>
      <p:sp>
        <p:nvSpPr>
          <p:cNvPr id="17" name="Text 15"/>
          <p:cNvSpPr/>
          <p:nvPr/>
        </p:nvSpPr>
        <p:spPr>
          <a:xfrm>
            <a:off x="9912287" y="5934075"/>
            <a:ext cx="30735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Trafic faible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3335000" y="5853113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13849350" y="5724525"/>
            <a:ext cx="3390900" cy="723900"/>
          </a:xfrm>
          <a:prstGeom prst="roundRect">
            <a:avLst>
              <a:gd name="adj" fmla="val 10526"/>
            </a:avLst>
          </a:prstGeom>
          <a:solidFill>
            <a:srgbClr val="F8F8F8"/>
          </a:solidFill>
          <a:ln/>
        </p:spPr>
      </p:sp>
      <p:sp>
        <p:nvSpPr>
          <p:cNvPr id="20" name="Text 18"/>
          <p:cNvSpPr/>
          <p:nvPr/>
        </p:nvSpPr>
        <p:spPr>
          <a:xfrm>
            <a:off x="14008037" y="5934075"/>
            <a:ext cx="307352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Pods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9753600" y="6677025"/>
            <a:ext cx="3390900" cy="704850"/>
          </a:xfrm>
          <a:prstGeom prst="roundRect">
            <a:avLst>
              <a:gd name="adj" fmla="val 10811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931337" y="6905625"/>
            <a:ext cx="30354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 de trafic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335000" y="6796088"/>
            <a:ext cx="40005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5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550" dirty="0"/>
          </a:p>
        </p:txBody>
      </p:sp>
      <p:sp>
        <p:nvSpPr>
          <p:cNvPr id="24" name="Shape 22"/>
          <p:cNvSpPr/>
          <p:nvPr/>
        </p:nvSpPr>
        <p:spPr>
          <a:xfrm>
            <a:off x="13849350" y="6677025"/>
            <a:ext cx="3390900" cy="704850"/>
          </a:xfrm>
          <a:prstGeom prst="roundRect">
            <a:avLst>
              <a:gd name="adj" fmla="val 10811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027087" y="6905625"/>
            <a:ext cx="303542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Pods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5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Surveiller un cluster Kubernetes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19350"/>
            <a:ext cx="16192500" cy="676275"/>
          </a:xfrm>
          <a:custGeom>
            <a:avLst/>
            <a:gdLst/>
            <a:ahLst/>
            <a:cxnLst/>
            <a:rect l="l" t="t" r="r" b="b"/>
            <a:pathLst>
              <a:path w="16192500" h="676275">
                <a:moveTo>
                  <a:pt x="76200" y="0"/>
                </a:moveTo>
                <a:lnTo>
                  <a:pt x="16116300" y="0"/>
                </a:lnTo>
                <a:arcTo wR="76200" hR="76200" stAng="16200000" swAng="5400000"/>
                <a:lnTo>
                  <a:pt x="16192500" y="676275"/>
                </a:lnTo>
                <a:lnTo>
                  <a:pt x="0" y="676275"/>
                </a:lnTo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995362" y="2609850"/>
            <a:ext cx="162972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950" b="1" kern="0" spc="7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Kubernetes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1047750" y="3095625"/>
            <a:ext cx="5372100" cy="588645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3095625"/>
            <a:ext cx="5372100" cy="5715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1314450" y="3495675"/>
            <a:ext cx="53225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metrics-server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314450" y="3943350"/>
            <a:ext cx="498386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CPU et mémoire des Pods, consultable via </a:t>
            </a:r>
            <a:r>
              <a:rPr lang="en-US" sz="1725" dirty="0">
                <a:solidFill>
                  <a:srgbClr val="5E5E5E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top</a:t>
            </a: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6457950" y="3095625"/>
            <a:ext cx="5372100" cy="588645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1" name="Shape 9"/>
          <p:cNvSpPr/>
          <p:nvPr/>
        </p:nvSpPr>
        <p:spPr>
          <a:xfrm>
            <a:off x="6457950" y="3095625"/>
            <a:ext cx="5372100" cy="5715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6724650" y="3495675"/>
            <a:ext cx="53225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Prometheus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724650" y="3943350"/>
            <a:ext cx="498386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Collecte ces métriques dans le temps, pour repérer des tendances.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11868150" y="3095625"/>
            <a:ext cx="5372100" cy="588645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68150" y="3095625"/>
            <a:ext cx="5372100" cy="5715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4"/>
          <p:cNvSpPr/>
          <p:nvPr/>
        </p:nvSpPr>
        <p:spPr>
          <a:xfrm>
            <a:off x="12134850" y="3495675"/>
            <a:ext cx="532257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Grafana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12134850" y="3943350"/>
            <a:ext cx="4983861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 ces métriques en tableaux de bord visuels et déclenche des alertes.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047750" y="9286875"/>
            <a:ext cx="178117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probes de liveness et readiness alimentent aussi l'état affiché par </a:t>
            </a:r>
            <a:r>
              <a:rPr lang="en-US" sz="1800" dirty="0">
                <a:solidFill>
                  <a:srgbClr val="7A7A7A"/>
                </a:solidFill>
                <a:highlight>
                  <a:srgbClr val="F0F0F0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 </a:t>
            </a:r>
            <a:r>
              <a:rPr lang="en-US" sz="18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la première brique du monitoring.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générale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6761262" y="4972050"/>
            <a:ext cx="2025402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9387" y="5076825"/>
            <a:ext cx="16253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 / Secret</a:t>
            </a:r>
            <a:endParaRPr lang="en-US" sz="1425" dirty="0"/>
          </a:p>
        </p:txBody>
      </p:sp>
      <p:sp>
        <p:nvSpPr>
          <p:cNvPr id="6" name="Shape 4"/>
          <p:cNvSpPr/>
          <p:nvPr/>
        </p:nvSpPr>
        <p:spPr>
          <a:xfrm>
            <a:off x="10691664" y="4972050"/>
            <a:ext cx="835075" cy="4191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29789" y="5076825"/>
            <a:ext cx="435025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7003256" y="5381625"/>
            <a:ext cx="9836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configure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815661" y="5381625"/>
            <a:ext cx="16158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surveille et scale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47750" y="5824538"/>
            <a:ext cx="2702272" cy="838200"/>
          </a:xfrm>
          <a:prstGeom prst="roundRect">
            <a:avLst>
              <a:gd name="adj" fmla="val 9091"/>
            </a:avLst>
          </a:prstGeom>
          <a:solidFill>
            <a:srgbClr val="F8F8F8"/>
          </a:solidFill>
          <a:ln/>
        </p:spPr>
      </p:sp>
      <p:sp>
        <p:nvSpPr>
          <p:cNvPr id="11" name="Text 9"/>
          <p:cNvSpPr/>
          <p:nvPr/>
        </p:nvSpPr>
        <p:spPr>
          <a:xfrm>
            <a:off x="1197716" y="6091238"/>
            <a:ext cx="240234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937445" y="6757988"/>
            <a:ext cx="99908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Docker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3902422" y="6229350"/>
            <a:ext cx="3238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4302472" y="5724525"/>
            <a:ext cx="9683055" cy="1362075"/>
          </a:xfrm>
          <a:prstGeom prst="roundRect">
            <a:avLst>
              <a:gd name="adj" fmla="val 9790"/>
            </a:avLst>
          </a:prstGeom>
          <a:ln w="19050">
            <a:solidFill>
              <a:srgbClr val="C4C4C4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50122" y="5591175"/>
            <a:ext cx="1658243" cy="200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372" y="5591175"/>
            <a:ext cx="16335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Kubernetes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50122" y="5972175"/>
            <a:ext cx="3613547" cy="866775"/>
          </a:xfrm>
          <a:prstGeom prst="roundRect">
            <a:avLst>
              <a:gd name="adj" fmla="val 10989"/>
            </a:avLst>
          </a:prstGeom>
          <a:ln w="19050">
            <a:solidFill>
              <a:srgbClr val="C8102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2522" y="5857875"/>
            <a:ext cx="965597" cy="1714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778722" y="5857875"/>
            <a:ext cx="90975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21572" y="6200775"/>
            <a:ext cx="1039416" cy="466725"/>
          </a:xfrm>
          <a:prstGeom prst="roundRect">
            <a:avLst>
              <a:gd name="adj" fmla="val 8163"/>
            </a:avLst>
          </a:prstGeom>
          <a:solidFill>
            <a:srgbClr val="FFF5F6"/>
          </a:solidFill>
          <a:ln/>
        </p:spPr>
      </p:sp>
      <p:sp>
        <p:nvSpPr>
          <p:cNvPr id="21" name="Text 19"/>
          <p:cNvSpPr/>
          <p:nvPr/>
        </p:nvSpPr>
        <p:spPr>
          <a:xfrm>
            <a:off x="4740622" y="6334125"/>
            <a:ext cx="10013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837188" y="6200775"/>
            <a:ext cx="1039416" cy="466725"/>
          </a:xfrm>
          <a:prstGeom prst="roundRect">
            <a:avLst>
              <a:gd name="adj" fmla="val 8163"/>
            </a:avLst>
          </a:prstGeom>
          <a:solidFill>
            <a:srgbClr val="FFF5F6"/>
          </a:solidFill>
          <a:ln/>
        </p:spPr>
      </p:sp>
      <p:sp>
        <p:nvSpPr>
          <p:cNvPr id="23" name="Text 21"/>
          <p:cNvSpPr/>
          <p:nvPr/>
        </p:nvSpPr>
        <p:spPr>
          <a:xfrm>
            <a:off x="5856238" y="6334125"/>
            <a:ext cx="10013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952804" y="6200775"/>
            <a:ext cx="1039416" cy="466725"/>
          </a:xfrm>
          <a:prstGeom prst="roundRect">
            <a:avLst>
              <a:gd name="adj" fmla="val 8163"/>
            </a:avLst>
          </a:prstGeom>
          <a:solidFill>
            <a:srgbClr val="FFF5F6"/>
          </a:solidFill>
          <a:ln/>
        </p:spPr>
      </p:sp>
      <p:sp>
        <p:nvSpPr>
          <p:cNvPr id="25" name="Text 23"/>
          <p:cNvSpPr/>
          <p:nvPr/>
        </p:nvSpPr>
        <p:spPr>
          <a:xfrm>
            <a:off x="6971854" y="6334125"/>
            <a:ext cx="10013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97019" y="6253163"/>
            <a:ext cx="285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8639919" y="6043613"/>
            <a:ext cx="2310854" cy="723900"/>
          </a:xfrm>
          <a:prstGeom prst="roundRect">
            <a:avLst>
              <a:gd name="adj" fmla="val 10526"/>
            </a:avLst>
          </a:prstGeom>
          <a:solidFill>
            <a:srgbClr val="F8F8F8"/>
          </a:solidFill>
          <a:ln/>
        </p:spPr>
      </p:sp>
      <p:sp>
        <p:nvSpPr>
          <p:cNvPr id="28" name="Text 26"/>
          <p:cNvSpPr/>
          <p:nvPr/>
        </p:nvSpPr>
        <p:spPr>
          <a:xfrm>
            <a:off x="8735169" y="6272213"/>
            <a:ext cx="21203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1084123" y="6253163"/>
            <a:ext cx="28575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1427023" y="6043613"/>
            <a:ext cx="2310854" cy="723900"/>
          </a:xfrm>
          <a:prstGeom prst="roundRect">
            <a:avLst>
              <a:gd name="adj" fmla="val 10526"/>
            </a:avLst>
          </a:prstGeom>
          <a:solidFill>
            <a:srgbClr val="F8F8F8"/>
          </a:solidFill>
          <a:ln/>
        </p:spPr>
      </p:sp>
      <p:sp>
        <p:nvSpPr>
          <p:cNvPr id="31" name="Text 29"/>
          <p:cNvSpPr/>
          <p:nvPr/>
        </p:nvSpPr>
        <p:spPr>
          <a:xfrm>
            <a:off x="11522273" y="6272213"/>
            <a:ext cx="212035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4137928" y="6229350"/>
            <a:ext cx="3238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950" dirty="0"/>
          </a:p>
        </p:txBody>
      </p:sp>
      <p:sp>
        <p:nvSpPr>
          <p:cNvPr id="33" name="Shape 31"/>
          <p:cNvSpPr/>
          <p:nvPr/>
        </p:nvSpPr>
        <p:spPr>
          <a:xfrm>
            <a:off x="14537978" y="5995988"/>
            <a:ext cx="2702272" cy="819150"/>
          </a:xfrm>
          <a:prstGeom prst="roundRect">
            <a:avLst>
              <a:gd name="adj" fmla="val 9302"/>
            </a:avLst>
          </a:prstGeom>
          <a:solidFill>
            <a:srgbClr val="FFF5F6"/>
          </a:solidFill>
          <a:ln w="19050">
            <a:solidFill>
              <a:srgbClr val="C8102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706994" y="6281738"/>
            <a:ext cx="236424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Utilisateurs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</a:t>
            </a:r>
            <a:endParaRPr lang="en-US" sz="15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Exemple : deployment.yaml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343150"/>
            <a:ext cx="16192500" cy="7277100"/>
          </a:xfrm>
          <a:prstGeom prst="roundRect">
            <a:avLst>
              <a:gd name="adj" fmla="val 1047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724150"/>
            <a:ext cx="1589341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385"/>
              </a:lnSpc>
              <a:buNone/>
            </a:pPr>
            <a:r>
              <a:rPr lang="en-US" sz="1725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</a:t>
            </a: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apps/v1</a:t>
            </a:r>
            <a:endParaRPr lang="en-US" sz="1725" dirty="0"/>
          </a:p>
        </p:txBody>
      </p:sp>
      <p:sp>
        <p:nvSpPr>
          <p:cNvPr id="6" name="Text 4"/>
          <p:cNvSpPr/>
          <p:nvPr/>
        </p:nvSpPr>
        <p:spPr>
          <a:xfrm>
            <a:off x="1428750" y="3096518"/>
            <a:ext cx="1589341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385"/>
              </a:lnSpc>
              <a:buNone/>
            </a:pPr>
            <a:r>
              <a:rPr lang="en-US" sz="1725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</a:t>
            </a: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Deployment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1428750" y="3468886"/>
            <a:ext cx="1589341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385"/>
              </a:lnSpc>
              <a:buNone/>
            </a:pPr>
            <a:r>
              <a:rPr lang="en-US" sz="1725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1428750" y="3841254"/>
            <a:ext cx="1589341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385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taskflow-api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1428750" y="4213622"/>
            <a:ext cx="1589341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385"/>
              </a:lnSpc>
              <a:buNone/>
            </a:pPr>
            <a:r>
              <a:rPr lang="en-US" sz="1725" dirty="0">
                <a:solidFill>
                  <a:srgbClr val="E055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1428750" y="4585990"/>
            <a:ext cx="1589341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385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replicas: 3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1428750" y="4958358"/>
            <a:ext cx="1589341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385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template: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1428750" y="5330726"/>
            <a:ext cx="1589341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385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1428750" y="5703094"/>
            <a:ext cx="1589341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385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containers:</a:t>
            </a:r>
            <a:endParaRPr lang="en-US" sz="1725" dirty="0"/>
          </a:p>
        </p:txBody>
      </p:sp>
      <p:sp>
        <p:nvSpPr>
          <p:cNvPr id="14" name="Text 12"/>
          <p:cNvSpPr/>
          <p:nvPr/>
        </p:nvSpPr>
        <p:spPr>
          <a:xfrm>
            <a:off x="1428750" y="6075462"/>
            <a:ext cx="1589341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385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name: api</a:t>
            </a:r>
            <a:endParaRPr lang="en-US" sz="1725" dirty="0"/>
          </a:p>
        </p:txBody>
      </p:sp>
      <p:sp>
        <p:nvSpPr>
          <p:cNvPr id="15" name="Text 13"/>
          <p:cNvSpPr/>
          <p:nvPr/>
        </p:nvSpPr>
        <p:spPr>
          <a:xfrm>
            <a:off x="1428750" y="6447830"/>
            <a:ext cx="15893415" cy="4104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50385"/>
              </a:lnSpc>
              <a:buNone/>
            </a:pPr>
            <a:r>
              <a:rPr lang="en-US" sz="172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image: registry.taskflow.io/taskflow-api:1.4.0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</a:t>
            </a:r>
            <a:endParaRPr lang="en-US" sz="15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Commandes kubectl essentielles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2419350"/>
            <a:ext cx="16192500" cy="7200900"/>
          </a:xfrm>
          <a:prstGeom prst="roundRect">
            <a:avLst>
              <a:gd name="adj" fmla="val 1058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2800350"/>
            <a:ext cx="1589341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2414"/>
              </a:lnSpc>
              <a:buNone/>
            </a:pPr>
            <a:r>
              <a:rPr lang="en-US" sz="1875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87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deployment.yaml</a:t>
            </a:r>
            <a:endParaRPr lang="en-US" sz="1875" dirty="0"/>
          </a:p>
        </p:txBody>
      </p:sp>
      <p:sp>
        <p:nvSpPr>
          <p:cNvPr id="6" name="Text 4"/>
          <p:cNvSpPr/>
          <p:nvPr/>
        </p:nvSpPr>
        <p:spPr>
          <a:xfrm>
            <a:off x="1428750" y="3276600"/>
            <a:ext cx="1589341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2414"/>
              </a:lnSpc>
              <a:buNone/>
            </a:pPr>
            <a:r>
              <a:rPr lang="en-US" sz="1875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87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get pods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428750" y="3752850"/>
            <a:ext cx="1589341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2414"/>
              </a:lnSpc>
              <a:buNone/>
            </a:pPr>
            <a:r>
              <a:rPr lang="en-US" sz="1875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87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describe pod taskflow-api-7d9f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428750" y="4229100"/>
            <a:ext cx="1589341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2414"/>
              </a:lnSpc>
              <a:buNone/>
            </a:pPr>
            <a:r>
              <a:rPr lang="en-US" sz="1875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87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logs taskflow-api-7d9f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428750" y="4705350"/>
            <a:ext cx="1589341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72414"/>
              </a:lnSpc>
              <a:buNone/>
            </a:pPr>
            <a:r>
              <a:rPr lang="en-US" sz="1875" dirty="0">
                <a:solidFill>
                  <a:srgbClr val="EB84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r>
              <a:rPr lang="en-US" sz="1875" dirty="0">
                <a:solidFill>
                  <a:srgbClr val="F0F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delete pod taskflow-api-7d9f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5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178117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 4 — DOCKER → KUBERNETES</a:t>
            </a:r>
            <a:endParaRPr lang="en-US" sz="165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35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Piloter et débugger un déploiement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1047750" y="30765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5" name="Text 3"/>
          <p:cNvSpPr/>
          <p:nvPr/>
        </p:nvSpPr>
        <p:spPr>
          <a:xfrm>
            <a:off x="1047750" y="2628900"/>
            <a:ext cx="44005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scale --replicas=5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5353050" y="2590800"/>
            <a:ext cx="634756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manuellement le nombre de réplicas d'un Deployment.</a:t>
            </a:r>
            <a:endParaRPr lang="en-US" sz="1725" dirty="0"/>
          </a:p>
        </p:txBody>
      </p:sp>
      <p:sp>
        <p:nvSpPr>
          <p:cNvPr id="7" name="Shape 5"/>
          <p:cNvSpPr/>
          <p:nvPr/>
        </p:nvSpPr>
        <p:spPr>
          <a:xfrm>
            <a:off x="1047750" y="37433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8" name="Text 6"/>
          <p:cNvSpPr/>
          <p:nvPr/>
        </p:nvSpPr>
        <p:spPr>
          <a:xfrm>
            <a:off x="1047750" y="3295650"/>
            <a:ext cx="44005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status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5353050" y="3257550"/>
            <a:ext cx="460486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 la progression d'une mise à jour en cours.</a:t>
            </a:r>
            <a:endParaRPr lang="en-US" sz="1725" dirty="0"/>
          </a:p>
        </p:txBody>
      </p:sp>
      <p:sp>
        <p:nvSpPr>
          <p:cNvPr id="10" name="Shape 8"/>
          <p:cNvSpPr/>
          <p:nvPr/>
        </p:nvSpPr>
        <p:spPr>
          <a:xfrm>
            <a:off x="1047750" y="44100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1" name="Text 9"/>
          <p:cNvSpPr/>
          <p:nvPr/>
        </p:nvSpPr>
        <p:spPr>
          <a:xfrm>
            <a:off x="1047750" y="3962400"/>
            <a:ext cx="44005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rollout undo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53050" y="3924300"/>
            <a:ext cx="520240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Revient à la version précédente en cas de problème.</a:t>
            </a:r>
            <a:endParaRPr lang="en-US" sz="1725" dirty="0"/>
          </a:p>
        </p:txBody>
      </p:sp>
      <p:sp>
        <p:nvSpPr>
          <p:cNvPr id="13" name="Shape 11"/>
          <p:cNvSpPr/>
          <p:nvPr/>
        </p:nvSpPr>
        <p:spPr>
          <a:xfrm>
            <a:off x="1047750" y="50768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4" name="Text 12"/>
          <p:cNvSpPr/>
          <p:nvPr/>
        </p:nvSpPr>
        <p:spPr>
          <a:xfrm>
            <a:off x="1047750" y="4629150"/>
            <a:ext cx="44005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exec -it ... -- sh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5353050" y="4591050"/>
            <a:ext cx="632071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Ouvre un terminal à l'intérieur d'un container, pour investiguer.</a:t>
            </a:r>
            <a:endParaRPr lang="en-US" sz="1725" dirty="0"/>
          </a:p>
        </p:txBody>
      </p:sp>
      <p:sp>
        <p:nvSpPr>
          <p:cNvPr id="16" name="Shape 14"/>
          <p:cNvSpPr/>
          <p:nvPr/>
        </p:nvSpPr>
        <p:spPr>
          <a:xfrm>
            <a:off x="1047750" y="57435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7750" y="5295900"/>
            <a:ext cx="4400550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top pods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5353050" y="5257800"/>
            <a:ext cx="5638696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725" dirty="0">
                <a:solidFill>
                  <a:srgbClr val="5E5E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Affiche la consommation CPU et mémoire en temps réel.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</a:t>
            </a:r>
            <a:endParaRPr lang="en-US" sz="15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57250"/>
            <a:ext cx="201577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kern="0" spc="132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RÉCAPITULATIF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14265325" y="857250"/>
            <a:ext cx="2974925" cy="428625"/>
          </a:xfrm>
          <a:prstGeom prst="roundRect">
            <a:avLst>
              <a:gd name="adj" fmla="val 50000"/>
            </a:avLst>
          </a:prstGeom>
          <a:solidFill>
            <a:srgbClr val="FFF5F6"/>
          </a:solidFill>
          <a:ln w="9525">
            <a:solidFill>
              <a:srgbClr val="C810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465350" y="962025"/>
            <a:ext cx="2664123" cy="2571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 ROUGE — TASKFLOW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47750" y="1514475"/>
            <a:ext cx="17811750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ZIP au cluster qui scale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1047750" y="33051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7" name="Text 5"/>
          <p:cNvSpPr/>
          <p:nvPr/>
        </p:nvSpPr>
        <p:spPr>
          <a:xfrm>
            <a:off x="1047750" y="2743200"/>
            <a:ext cx="6477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924050" y="2752725"/>
            <a:ext cx="604895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code est versionné et travaillé en équipe avec Git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1047750" y="40481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0" name="Text 8"/>
          <p:cNvSpPr/>
          <p:nvPr/>
        </p:nvSpPr>
        <p:spPr>
          <a:xfrm>
            <a:off x="1047750" y="3486150"/>
            <a:ext cx="6477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924050" y="3495675"/>
            <a:ext cx="876246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push est testé et construit automatiquement par un pipeline CI/CD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047750" y="479107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3" name="Text 11"/>
          <p:cNvSpPr/>
          <p:nvPr/>
        </p:nvSpPr>
        <p:spPr>
          <a:xfrm>
            <a:off x="1047750" y="4229100"/>
            <a:ext cx="6477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924050" y="4238625"/>
            <a:ext cx="769588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L'application est conteneurisée dans une image Docker optimisée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1047750" y="5534025"/>
            <a:ext cx="16192500" cy="9525"/>
          </a:xfrm>
          <a:prstGeom prst="rect">
            <a:avLst/>
          </a:prstGeom>
          <a:solidFill>
            <a:srgbClr val="DEDEDE"/>
          </a:solidFill>
          <a:ln/>
        </p:spPr>
      </p:sp>
      <p:sp>
        <p:nvSpPr>
          <p:cNvPr id="16" name="Text 14"/>
          <p:cNvSpPr/>
          <p:nvPr/>
        </p:nvSpPr>
        <p:spPr>
          <a:xfrm>
            <a:off x="1047750" y="4972050"/>
            <a:ext cx="64770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81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924050" y="4981575"/>
            <a:ext cx="763236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 l'exécute, la surveille et la fait évoluer selon la charge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7641342" y="9677400"/>
            <a:ext cx="26565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C4C4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15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81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3877568"/>
            <a:ext cx="173926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195" dirty="0">
                <a:solidFill>
                  <a:srgbClr val="FA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238250" y="4439543"/>
            <a:ext cx="15716250" cy="82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0976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238250" y="5532983"/>
            <a:ext cx="1275397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FAE0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Modalités d'évaluation, TP et évaluation sur table — les prochaines séances mettront ces notions en pratique.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4584</Words>
  <Application>Microsoft Office PowerPoint</Application>
  <PresentationFormat>Personnalisé</PresentationFormat>
  <Paragraphs>907</Paragraphs>
  <Slides>81</Slides>
  <Notes>81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81</vt:i4>
      </vt:variant>
    </vt:vector>
  </HeadingPairs>
  <TitlesOfParts>
    <vt:vector size="85" baseType="lpstr">
      <vt:lpstr>Arial</vt:lpstr>
      <vt:lpstr>Courier New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Harold PARPEX</cp:lastModifiedBy>
  <cp:revision>3</cp:revision>
  <dcterms:created xsi:type="dcterms:W3CDTF">2026-09-09T16:15:10Z</dcterms:created>
  <dcterms:modified xsi:type="dcterms:W3CDTF">2026-09-09T16:27:48Z</dcterms:modified>
</cp:coreProperties>
</file>